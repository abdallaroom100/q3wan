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8288000" cy="10287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21" autoAdjust="0"/>
  </p:normalViewPr>
  <p:slideViewPr>
    <p:cSldViewPr>
      <p:cViewPr varScale="1">
        <p:scale>
          <a:sx n="65" d="100"/>
          <a:sy n="65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1371600" y="3195637"/>
            <a:ext cx="15544800" cy="22050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2743200" y="5829299"/>
            <a:ext cx="12801600" cy="262889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02361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556355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219965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408928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12433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697180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179091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119522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154955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936199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58856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dt" idx="10"/>
          </p:nvPr>
        </p:nvSpPr>
        <p:spPr>
          <a:xfrm rot="0">
            <a:off x="457200" y="6356349"/>
            <a:ext cx="21336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r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Date/Time</a:t>
            </a:r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" name="Text box"/>
          <p:cNvSpPr>
            <a:spLocks noGrp="1"/>
          </p:cNvSpPr>
          <p:nvPr>
            <p:ph type="ftr"/>
          </p:nvPr>
        </p:nvSpPr>
        <p:spPr>
          <a:xfrm rot="0">
            <a:off x="3124200" y="6356349"/>
            <a:ext cx="28956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" name="Text box"/>
          <p:cNvSpPr>
            <a:spLocks noGrp="1"/>
          </p:cNvSpPr>
          <p:nvPr>
            <p:ph type="sldNum"/>
          </p:nvPr>
        </p:nvSpPr>
        <p:spPr>
          <a:xfrm rot="0">
            <a:off x="6553200" y="6356349"/>
            <a:ext cx="21336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772638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11/28/2025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Text box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Text box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068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1.png"/><Relationship Id="rId3" Type="http://schemas.openxmlformats.org/officeDocument/2006/relationships/image" Target="../media/pimg1.png"/><Relationship Id="rId4" Type="http://schemas.openxmlformats.org/officeDocument/2006/relationships/image" Target="../media/pimg1.png"/><Relationship Id="rId5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1.png"/><Relationship Id="rId3" Type="http://schemas.openxmlformats.org/officeDocument/2006/relationships/image" Target="../media/pimg1.png"/><Relationship Id="rId4" Type="http://schemas.openxmlformats.org/officeDocument/2006/relationships/image" Target="../media/pimg1.png"/><Relationship Id="rId5" Type="http://schemas.openxmlformats.org/officeDocument/2006/relationships/image" Target="../media/pimg1.png"/><Relationship Id="rId6" Type="http://schemas.openxmlformats.org/officeDocument/2006/relationships/image" Target="../media/pimg1.png"/><Relationship Id="rId7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1.png"/><Relationship Id="rId3" Type="http://schemas.openxmlformats.org/officeDocument/2006/relationships/image" Target="../media/pimg1.png"/><Relationship Id="rId4" Type="http://schemas.openxmlformats.org/officeDocument/2006/relationships/image" Target="../media/pimg1.png"/><Relationship Id="rId5" Type="http://schemas.openxmlformats.org/officeDocument/2006/relationships/image" Target="../media/pimg1.png"/><Relationship Id="rId6" Type="http://schemas.openxmlformats.org/officeDocument/2006/relationships/image" Target="../media/pimg1.png"/><Relationship Id="rId7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1.png"/><Relationship Id="rId3" Type="http://schemas.openxmlformats.org/officeDocument/2006/relationships/image" Target="../media/pimg1.png"/><Relationship Id="rId4" Type="http://schemas.openxmlformats.org/officeDocument/2006/relationships/image" Target="../media/pimg1.png"/><Relationship Id="rId5" Type="http://schemas.openxmlformats.org/officeDocument/2006/relationships/image" Target="../media/pimg1.png"/><Relationship Id="rId6" Type="http://schemas.openxmlformats.org/officeDocument/2006/relationships/image" Target="../media/pimg1.png"/><Relationship Id="rId7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1.png"/><Relationship Id="rId3" Type="http://schemas.openxmlformats.org/officeDocument/2006/relationships/image" Target="../media/pimg1.png"/><Relationship Id="rId4" Type="http://schemas.openxmlformats.org/officeDocument/2006/relationships/image" Target="../media/pimg1.png"/><Relationship Id="rId5" Type="http://schemas.openxmlformats.org/officeDocument/2006/relationships/image" Target="../media/pimg1.png"/><Relationship Id="rId6" Type="http://schemas.openxmlformats.org/officeDocument/2006/relationships/image" Target="../media/pimg1.png"/><Relationship Id="rId7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1.png"/><Relationship Id="rId3" Type="http://schemas.openxmlformats.org/officeDocument/2006/relationships/image" Target="../media/pimg1.png"/><Relationship Id="rId4" Type="http://schemas.openxmlformats.org/officeDocument/2006/relationships/image" Target="../media/pimg1.png"/><Relationship Id="rId5" Type="http://schemas.openxmlformats.org/officeDocument/2006/relationships/image" Target="../media/pimg1.png"/><Relationship Id="rId6" Type="http://schemas.openxmlformats.org/officeDocument/2006/relationships/image" Target="../media/pimg1.png"/><Relationship Id="rId7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1.png"/><Relationship Id="rId3" Type="http://schemas.openxmlformats.org/officeDocument/2006/relationships/image" Target="../media/pimg1.png"/><Relationship Id="rId4" Type="http://schemas.openxmlformats.org/officeDocument/2006/relationships/image" Target="../media/pimg1.png"/><Relationship Id="rId5" Type="http://schemas.openxmlformats.org/officeDocument/2006/relationships/image" Target="../media/pimg1.png"/><Relationship Id="rId6" Type="http://schemas.openxmlformats.org/officeDocument/2006/relationships/image" Target="../media/pimg1.png"/><Relationship Id="rId7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1.png"/><Relationship Id="rId3" Type="http://schemas.openxmlformats.org/officeDocument/2006/relationships/image" Target="../media/pimg1.png"/><Relationship Id="rId4" Type="http://schemas.openxmlformats.org/officeDocument/2006/relationships/image" Target="../media/pimg1.png"/><Relationship Id="rId5" Type="http://schemas.openxmlformats.org/officeDocument/2006/relationships/image" Target="../media/pimg1.png"/><Relationship Id="rId6" Type="http://schemas.openxmlformats.org/officeDocument/2006/relationships/image" Target="../media/pimg1.png"/><Relationship Id="rId7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1.png"/><Relationship Id="rId3" Type="http://schemas.openxmlformats.org/officeDocument/2006/relationships/image" Target="../media/pimg1.png"/><Relationship Id="rId4" Type="http://schemas.openxmlformats.org/officeDocument/2006/relationships/image" Target="../media/pimg1.png"/><Relationship Id="rId5" Type="http://schemas.openxmlformats.org/officeDocument/2006/relationships/image" Target="../media/pimg1.png"/><Relationship Id="rId6" Type="http://schemas.openxmlformats.org/officeDocument/2006/relationships/image" Target="../media/pimg1.png"/><Relationship Id="rId7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1.png"/><Relationship Id="rId3" Type="http://schemas.openxmlformats.org/officeDocument/2006/relationships/image" Target="../media/pimg1.png"/><Relationship Id="rId4" Type="http://schemas.openxmlformats.org/officeDocument/2006/relationships/image" Target="../media/pimg1.png"/><Relationship Id="rId5" Type="http://schemas.openxmlformats.org/officeDocument/2006/relationships/image" Target="../media/pimg1.png"/><Relationship Id="rId6" Type="http://schemas.openxmlformats.org/officeDocument/2006/relationships/image" Target="../media/pimg1.png"/><Relationship Id="rId7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1.png"/><Relationship Id="rId3" Type="http://schemas.openxmlformats.org/officeDocument/2006/relationships/image" Target="../media/pimg1.png"/><Relationship Id="rId4" Type="http://schemas.openxmlformats.org/officeDocument/2006/relationships/image" Target="../media/pimg1.png"/><Relationship Id="rId5" Type="http://schemas.openxmlformats.org/officeDocument/2006/relationships/image" Target="../media/pimg1.png"/><Relationship Id="rId6" Type="http://schemas.openxmlformats.org/officeDocument/2006/relationships/image" Target="../media/pimg1.png"/><Relationship Id="rId7" Type="http://schemas.openxmlformats.org/officeDocument/2006/relationships/image" Target="../media/pimg2.png"/><Relationship Id="rId8" Type="http://schemas.openxmlformats.org/officeDocument/2006/relationships/image" Target="../media/pimg2.png"/><Relationship Id="rId9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1.png"/><Relationship Id="rId3" Type="http://schemas.openxmlformats.org/officeDocument/2006/relationships/image" Target="../media/pimg1.png"/><Relationship Id="rId4" Type="http://schemas.openxmlformats.org/officeDocument/2006/relationships/image" Target="../media/pimg1.png"/><Relationship Id="rId5" Type="http://schemas.openxmlformats.org/officeDocument/2006/relationships/image" Target="../media/pimg1.png"/><Relationship Id="rId6" Type="http://schemas.openxmlformats.org/officeDocument/2006/relationships/image" Target="../media/pimg1.png"/><Relationship Id="rId7" Type="http://schemas.openxmlformats.org/officeDocument/2006/relationships/image" Target="../media/pimg2.png"/><Relationship Id="rId8" Type="http://schemas.openxmlformats.org/officeDocument/2006/relationships/image" Target="../media/pimg2.png"/><Relationship Id="rId9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1.png"/><Relationship Id="rId3" Type="http://schemas.openxmlformats.org/officeDocument/2006/relationships/image" Target="../media/pimg1.png"/><Relationship Id="rId4" Type="http://schemas.openxmlformats.org/officeDocument/2006/relationships/image" Target="../media/pimg1.png"/><Relationship Id="rId5" Type="http://schemas.openxmlformats.org/officeDocument/2006/relationships/image" Target="../media/pimg1.png"/><Relationship Id="rId6" Type="http://schemas.openxmlformats.org/officeDocument/2006/relationships/image" Target="../media/pimg1.png"/><Relationship Id="rId7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1.png"/><Relationship Id="rId3" Type="http://schemas.openxmlformats.org/officeDocument/2006/relationships/image" Target="../media/pimg1.png"/><Relationship Id="rId4" Type="http://schemas.openxmlformats.org/officeDocument/2006/relationships/image" Target="../media/pimg1.png"/><Relationship Id="rId5" Type="http://schemas.openxmlformats.org/officeDocument/2006/relationships/image" Target="../media/pimg1.png"/><Relationship Id="rId6" Type="http://schemas.openxmlformats.org/officeDocument/2006/relationships/image" Target="../media/pimg1.png"/><Relationship Id="rId7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1.png"/><Relationship Id="rId3" Type="http://schemas.openxmlformats.org/officeDocument/2006/relationships/image" Target="../media/pimg1.png"/><Relationship Id="rId4" Type="http://schemas.openxmlformats.org/officeDocument/2006/relationships/image" Target="../media/pimg1.png"/><Relationship Id="rId5" Type="http://schemas.openxmlformats.org/officeDocument/2006/relationships/image" Target="../media/pimg1.png"/><Relationship Id="rId6" Type="http://schemas.openxmlformats.org/officeDocument/2006/relationships/image" Target="../media/pimg1.png"/><Relationship Id="rId7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曲线"/>
          <p:cNvSpPr>
            <a:spLocks/>
          </p:cNvSpPr>
          <p:nvPr/>
        </p:nvSpPr>
        <p:spPr>
          <a:xfrm rot="0">
            <a:off x="13195961" y="5935345"/>
            <a:ext cx="8126677" cy="8126676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1" name="曲线"/>
          <p:cNvSpPr>
            <a:spLocks/>
          </p:cNvSpPr>
          <p:nvPr/>
        </p:nvSpPr>
        <p:spPr>
          <a:xfrm rot="0">
            <a:off x="-1350137" y="-1742992"/>
            <a:ext cx="4114800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2" name="曲线"/>
          <p:cNvSpPr>
            <a:spLocks/>
          </p:cNvSpPr>
          <p:nvPr/>
        </p:nvSpPr>
        <p:spPr>
          <a:xfrm rot="0">
            <a:off x="-994970" y="-1387826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3" name="曲线"/>
          <p:cNvSpPr>
            <a:spLocks/>
          </p:cNvSpPr>
          <p:nvPr/>
        </p:nvSpPr>
        <p:spPr>
          <a:xfrm rot="0">
            <a:off x="13897411" y="6636795"/>
            <a:ext cx="6723779" cy="6723778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16" name="Combination"/>
          <p:cNvGrpSpPr>
            <a:grpSpLocks/>
          </p:cNvGrpSpPr>
          <p:nvPr/>
        </p:nvGrpSpPr>
        <p:grpSpPr>
          <a:xfrm>
            <a:off x="14876905" y="7616290"/>
            <a:ext cx="4764786" cy="4764787"/>
            <a:chOff x="14876905" y="7616290"/>
            <a:chExt cx="4764786" cy="4764787"/>
          </a:xfrm>
        </p:grpSpPr>
        <p:sp>
          <p:nvSpPr>
            <p:cNvPr id="14" name="曲线"/>
            <p:cNvSpPr>
              <a:spLocks/>
            </p:cNvSpPr>
            <p:nvPr/>
          </p:nvSpPr>
          <p:spPr>
            <a:xfrm rot="0">
              <a:off x="14876905" y="7616290"/>
              <a:ext cx="4764786" cy="476478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5" name="Rectangles"/>
            <p:cNvSpPr>
              <a:spLocks/>
            </p:cNvSpPr>
            <p:nvPr/>
          </p:nvSpPr>
          <p:spPr>
            <a:xfrm rot="0">
              <a:off x="15323605" y="7839639"/>
              <a:ext cx="3871389" cy="409474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grpSp>
        <p:nvGrpSpPr>
          <p:cNvPr id="19" name="Combination"/>
          <p:cNvGrpSpPr>
            <a:grpSpLocks/>
          </p:cNvGrpSpPr>
          <p:nvPr/>
        </p:nvGrpSpPr>
        <p:grpSpPr>
          <a:xfrm>
            <a:off x="-499020" y="-891876"/>
            <a:ext cx="2412567" cy="2412567"/>
            <a:chOff x="-499020" y="-891876"/>
            <a:chExt cx="2412567" cy="2412567"/>
          </a:xfrm>
        </p:grpSpPr>
        <p:sp>
          <p:nvSpPr>
            <p:cNvPr id="17" name="曲线"/>
            <p:cNvSpPr>
              <a:spLocks/>
            </p:cNvSpPr>
            <p:nvPr/>
          </p:nvSpPr>
          <p:spPr>
            <a:xfrm rot="0">
              <a:off x="-499020" y="-891876"/>
              <a:ext cx="2412567" cy="241256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8" name="Rectangles"/>
            <p:cNvSpPr>
              <a:spLocks/>
            </p:cNvSpPr>
            <p:nvPr/>
          </p:nvSpPr>
          <p:spPr>
            <a:xfrm rot="0">
              <a:off x="-272841" y="-778786"/>
              <a:ext cx="1960210" cy="2073299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20" name="Rectangles"/>
          <p:cNvSpPr>
            <a:spLocks/>
          </p:cNvSpPr>
          <p:nvPr/>
        </p:nvSpPr>
        <p:spPr>
          <a:xfrm rot="0">
            <a:off x="4512324" y="4131279"/>
            <a:ext cx="9263351" cy="10491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82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901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ADAPTIVE CONTROL</a:t>
            </a:r>
            <a:endParaRPr lang="zh-CN" altLang="en-US" sz="5901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sp>
        <p:nvSpPr>
          <p:cNvPr id="21" name="Rectangles"/>
          <p:cNvSpPr>
            <a:spLocks/>
          </p:cNvSpPr>
          <p:nvPr/>
        </p:nvSpPr>
        <p:spPr>
          <a:xfrm rot="0">
            <a:off x="4512324" y="5172091"/>
            <a:ext cx="9263351" cy="7825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0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1" b="1" i="0" u="none" strike="noStrike" kern="1200" cap="none" spc="0" baseline="0">
                <a:solidFill>
                  <a:srgbClr val="B4B4B4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FROM CLASSICAL PARAMETER ADAPTATION TO LEARNING-BASED AUTONOMOUS SYSTEMS</a:t>
            </a:r>
            <a:endParaRPr lang="zh-CN" altLang="en-US" sz="2201" b="1" i="0" u="none" strike="noStrike" kern="1200" cap="none" spc="0" baseline="0">
              <a:solidFill>
                <a:srgbClr val="B4B4B4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930005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曲线"/>
          <p:cNvSpPr>
            <a:spLocks/>
          </p:cNvSpPr>
          <p:nvPr/>
        </p:nvSpPr>
        <p:spPr>
          <a:xfrm rot="0">
            <a:off x="-2057400" y="-1258963"/>
            <a:ext cx="4114800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3" name="曲线"/>
          <p:cNvSpPr>
            <a:spLocks/>
          </p:cNvSpPr>
          <p:nvPr/>
        </p:nvSpPr>
        <p:spPr>
          <a:xfrm rot="0">
            <a:off x="-1702233" y="-903795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4" name="Rectangles"/>
          <p:cNvSpPr>
            <a:spLocks/>
          </p:cNvSpPr>
          <p:nvPr/>
        </p:nvSpPr>
        <p:spPr>
          <a:xfrm rot="0">
            <a:off x="4357091" y="1184092"/>
            <a:ext cx="10117768" cy="9423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74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300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LECTURE OBJECTIVES</a:t>
            </a:r>
            <a:endParaRPr lang="zh-CN" altLang="en-US" sz="5300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sp>
        <p:nvSpPr>
          <p:cNvPr id="25" name="Rectangles"/>
          <p:cNvSpPr>
            <a:spLocks/>
          </p:cNvSpPr>
          <p:nvPr/>
        </p:nvSpPr>
        <p:spPr>
          <a:xfrm rot="0">
            <a:off x="3621157" y="4012571"/>
            <a:ext cx="12381570" cy="52332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lvl="1" marL="625094" indent="-312547" algn="l">
              <a:lnSpc>
                <a:spcPts val="5066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What adaptive control is and why it matters</a:t>
            </a:r>
            <a:endParaRPr lang="en-US" altLang="zh-CN" sz="28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25094" indent="-312547" algn="l">
              <a:lnSpc>
                <a:spcPts val="5066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Classical vs. modern adaptive control</a:t>
            </a:r>
            <a:endParaRPr lang="en-US" altLang="zh-CN" sz="28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25094" indent="-312547" algn="l">
              <a:lnSpc>
                <a:spcPts val="5066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How ML techniques integrate with adaptive controllers</a:t>
            </a:r>
            <a:endParaRPr lang="en-US" altLang="zh-CN" sz="28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25094" indent="-312547" algn="l">
              <a:lnSpc>
                <a:spcPts val="5066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Motivation &amp; Systemic Need</a:t>
            </a:r>
            <a:endParaRPr lang="en-US" altLang="zh-CN" sz="28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25094" indent="-312547" algn="l">
              <a:lnSpc>
                <a:spcPts val="5066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Categories of Adaptive Control</a:t>
            </a:r>
            <a:endParaRPr lang="en-US" altLang="zh-CN" sz="28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25094" indent="-312547" algn="l">
              <a:lnSpc>
                <a:spcPts val="5066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Adaptive Control in Machine Learning</a:t>
            </a:r>
            <a:endParaRPr lang="en-US" altLang="zh-CN" sz="28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25094" indent="-312547" algn="l">
              <a:lnSpc>
                <a:spcPts val="5066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ML Techniques Used in Adaptive Control</a:t>
            </a:r>
            <a:endParaRPr lang="en-US" altLang="zh-CN" sz="28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25094" indent="-312547" algn="l">
              <a:lnSpc>
                <a:spcPts val="5066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Applications in robotics, autonomous systems, and industry</a:t>
            </a:r>
            <a:endParaRPr lang="en-US" altLang="zh-CN" sz="28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marL="0" indent="0" algn="l">
              <a:lnSpc>
                <a:spcPts val="5066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8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  <p:sp>
        <p:nvSpPr>
          <p:cNvPr id="26" name="曲线"/>
          <p:cNvSpPr>
            <a:spLocks/>
          </p:cNvSpPr>
          <p:nvPr/>
        </p:nvSpPr>
        <p:spPr>
          <a:xfrm rot="0">
            <a:off x="16230600" y="7200900"/>
            <a:ext cx="4114798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7" name="曲线"/>
          <p:cNvSpPr>
            <a:spLocks/>
          </p:cNvSpPr>
          <p:nvPr/>
        </p:nvSpPr>
        <p:spPr>
          <a:xfrm rot="0">
            <a:off x="16585766" y="7556066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30" name="Combination"/>
          <p:cNvGrpSpPr>
            <a:grpSpLocks/>
          </p:cNvGrpSpPr>
          <p:nvPr/>
        </p:nvGrpSpPr>
        <p:grpSpPr>
          <a:xfrm>
            <a:off x="12319137" y="9258300"/>
            <a:ext cx="3911463" cy="3911462"/>
            <a:chOff x="12319137" y="9258300"/>
            <a:chExt cx="3911463" cy="3911462"/>
          </a:xfrm>
        </p:grpSpPr>
        <p:sp>
          <p:nvSpPr>
            <p:cNvPr id="28" name="曲线"/>
            <p:cNvSpPr>
              <a:spLocks/>
            </p:cNvSpPr>
            <p:nvPr/>
          </p:nvSpPr>
          <p:spPr>
            <a:xfrm rot="0">
              <a:off x="12319137" y="9258300"/>
              <a:ext cx="3911463" cy="391146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29" name="Rectangles"/>
            <p:cNvSpPr>
              <a:spLocks/>
            </p:cNvSpPr>
            <p:nvPr/>
          </p:nvSpPr>
          <p:spPr>
            <a:xfrm rot="0">
              <a:off x="12685838" y="9441650"/>
              <a:ext cx="3178063" cy="336141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31" name="曲线"/>
          <p:cNvSpPr>
            <a:spLocks/>
          </p:cNvSpPr>
          <p:nvPr/>
        </p:nvSpPr>
        <p:spPr>
          <a:xfrm rot="0">
            <a:off x="16998732" y="7969033"/>
            <a:ext cx="2578532" cy="2578532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32" name="曲线"/>
          <p:cNvSpPr>
            <a:spLocks/>
          </p:cNvSpPr>
          <p:nvPr/>
        </p:nvSpPr>
        <p:spPr>
          <a:xfrm rot="0">
            <a:off x="-1289267" y="-490829"/>
            <a:ext cx="2578533" cy="257853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35" name="Combination"/>
          <p:cNvGrpSpPr>
            <a:grpSpLocks/>
          </p:cNvGrpSpPr>
          <p:nvPr/>
        </p:nvGrpSpPr>
        <p:grpSpPr>
          <a:xfrm>
            <a:off x="2129385" y="-2859527"/>
            <a:ext cx="3911463" cy="3911463"/>
            <a:chOff x="2129385" y="-2859527"/>
            <a:chExt cx="3911463" cy="3911463"/>
          </a:xfrm>
        </p:grpSpPr>
        <p:sp>
          <p:nvSpPr>
            <p:cNvPr id="33" name="曲线"/>
            <p:cNvSpPr>
              <a:spLocks/>
            </p:cNvSpPr>
            <p:nvPr/>
          </p:nvSpPr>
          <p:spPr>
            <a:xfrm rot="0">
              <a:off x="2129385" y="-2859527"/>
              <a:ext cx="3911463" cy="391146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34" name="Rectangles"/>
            <p:cNvSpPr>
              <a:spLocks/>
            </p:cNvSpPr>
            <p:nvPr/>
          </p:nvSpPr>
          <p:spPr>
            <a:xfrm rot="0">
              <a:off x="2496084" y="-2676177"/>
              <a:ext cx="3178063" cy="336141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36" name="Rectangles"/>
          <p:cNvSpPr>
            <a:spLocks/>
          </p:cNvSpPr>
          <p:nvPr/>
        </p:nvSpPr>
        <p:spPr>
          <a:xfrm rot="0">
            <a:off x="3525166" y="3350938"/>
            <a:ext cx="9791315" cy="6221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4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99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By the end of this lecture, students should understand:</a:t>
            </a:r>
            <a:endParaRPr lang="zh-CN" altLang="en-US" sz="2799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562368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曲线"/>
          <p:cNvSpPr>
            <a:spLocks/>
          </p:cNvSpPr>
          <p:nvPr/>
        </p:nvSpPr>
        <p:spPr>
          <a:xfrm rot="0">
            <a:off x="-2057400" y="-1258963"/>
            <a:ext cx="4114800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38" name="曲线"/>
          <p:cNvSpPr>
            <a:spLocks/>
          </p:cNvSpPr>
          <p:nvPr/>
        </p:nvSpPr>
        <p:spPr>
          <a:xfrm rot="0">
            <a:off x="-1702233" y="-903795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39" name="Rectangles"/>
          <p:cNvSpPr>
            <a:spLocks/>
          </p:cNvSpPr>
          <p:nvPr/>
        </p:nvSpPr>
        <p:spPr>
          <a:xfrm rot="0">
            <a:off x="4261100" y="1583511"/>
            <a:ext cx="10117768" cy="9423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74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300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WHAT IS ADAPTIVE CONTROL?</a:t>
            </a:r>
            <a:endParaRPr lang="zh-CN" altLang="en-US" sz="5300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sp>
        <p:nvSpPr>
          <p:cNvPr id="40" name="Rectangles"/>
          <p:cNvSpPr>
            <a:spLocks/>
          </p:cNvSpPr>
          <p:nvPr/>
        </p:nvSpPr>
        <p:spPr>
          <a:xfrm rot="0">
            <a:off x="2952461" y="5879229"/>
            <a:ext cx="9741810" cy="24565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4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95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Key features:</a:t>
            </a:r>
            <a:endParaRPr lang="en-US" altLang="zh-CN" sz="2895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marL="0" indent="0" algn="l">
              <a:lnSpc>
                <a:spcPts val="178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95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603504" indent="-30175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Online learning</a:t>
            </a:r>
            <a:endParaRPr lang="en-US" altLang="zh-CN" sz="27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3504" indent="-30175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Real-time parameter estimation</a:t>
            </a:r>
            <a:endParaRPr lang="en-US" altLang="zh-CN" sz="27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3504" indent="-30175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Ability to handle model errors</a:t>
            </a:r>
            <a:endParaRPr lang="en-US" altLang="zh-CN" sz="27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3504" indent="-30175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Robustness to unknown dynamics</a:t>
            </a:r>
            <a:endParaRPr lang="zh-CN" altLang="en-US" sz="27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  <p:sp>
        <p:nvSpPr>
          <p:cNvPr id="41" name="曲线"/>
          <p:cNvSpPr>
            <a:spLocks/>
          </p:cNvSpPr>
          <p:nvPr/>
        </p:nvSpPr>
        <p:spPr>
          <a:xfrm rot="0">
            <a:off x="16230600" y="7200900"/>
            <a:ext cx="4114798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42" name="曲线"/>
          <p:cNvSpPr>
            <a:spLocks/>
          </p:cNvSpPr>
          <p:nvPr/>
        </p:nvSpPr>
        <p:spPr>
          <a:xfrm rot="0">
            <a:off x="16585766" y="7556066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45" name="Combination"/>
          <p:cNvGrpSpPr>
            <a:grpSpLocks/>
          </p:cNvGrpSpPr>
          <p:nvPr/>
        </p:nvGrpSpPr>
        <p:grpSpPr>
          <a:xfrm>
            <a:off x="12319137" y="9258300"/>
            <a:ext cx="3911463" cy="3911462"/>
            <a:chOff x="12319137" y="9258300"/>
            <a:chExt cx="3911463" cy="3911462"/>
          </a:xfrm>
        </p:grpSpPr>
        <p:sp>
          <p:nvSpPr>
            <p:cNvPr id="43" name="曲线"/>
            <p:cNvSpPr>
              <a:spLocks/>
            </p:cNvSpPr>
            <p:nvPr/>
          </p:nvSpPr>
          <p:spPr>
            <a:xfrm rot="0">
              <a:off x="12319137" y="9258300"/>
              <a:ext cx="3911463" cy="391146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44" name="Rectangles"/>
            <p:cNvSpPr>
              <a:spLocks/>
            </p:cNvSpPr>
            <p:nvPr/>
          </p:nvSpPr>
          <p:spPr>
            <a:xfrm rot="0">
              <a:off x="12685838" y="9441650"/>
              <a:ext cx="3178063" cy="336141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46" name="曲线"/>
          <p:cNvSpPr>
            <a:spLocks/>
          </p:cNvSpPr>
          <p:nvPr/>
        </p:nvSpPr>
        <p:spPr>
          <a:xfrm rot="0">
            <a:off x="16998732" y="7969033"/>
            <a:ext cx="2578532" cy="2578532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47" name="曲线"/>
          <p:cNvSpPr>
            <a:spLocks/>
          </p:cNvSpPr>
          <p:nvPr/>
        </p:nvSpPr>
        <p:spPr>
          <a:xfrm rot="0">
            <a:off x="-1289267" y="-490829"/>
            <a:ext cx="2578533" cy="257853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50" name="Combination"/>
          <p:cNvGrpSpPr>
            <a:grpSpLocks/>
          </p:cNvGrpSpPr>
          <p:nvPr/>
        </p:nvGrpSpPr>
        <p:grpSpPr>
          <a:xfrm>
            <a:off x="2129385" y="-2859527"/>
            <a:ext cx="3911463" cy="3911463"/>
            <a:chOff x="2129385" y="-2859527"/>
            <a:chExt cx="3911463" cy="3911463"/>
          </a:xfrm>
        </p:grpSpPr>
        <p:sp>
          <p:nvSpPr>
            <p:cNvPr id="48" name="曲线"/>
            <p:cNvSpPr>
              <a:spLocks/>
            </p:cNvSpPr>
            <p:nvPr/>
          </p:nvSpPr>
          <p:spPr>
            <a:xfrm rot="0">
              <a:off x="2129385" y="-2859527"/>
              <a:ext cx="3911463" cy="391146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49" name="Rectangles"/>
            <p:cNvSpPr>
              <a:spLocks/>
            </p:cNvSpPr>
            <p:nvPr/>
          </p:nvSpPr>
          <p:spPr>
            <a:xfrm rot="0">
              <a:off x="2496084" y="-2676177"/>
              <a:ext cx="3178063" cy="336141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51" name="Rectangles"/>
          <p:cNvSpPr>
            <a:spLocks/>
          </p:cNvSpPr>
          <p:nvPr/>
        </p:nvSpPr>
        <p:spPr>
          <a:xfrm rot="0">
            <a:off x="2952461" y="3368772"/>
            <a:ext cx="13902940" cy="19109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2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999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Definition</a:t>
            </a:r>
            <a:r>
              <a:rPr lang="en-US" altLang="zh-CN" sz="29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:</a:t>
            </a:r>
            <a:endParaRPr lang="en-US" altLang="zh-CN" sz="29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marL="0" indent="0" algn="l">
              <a:lnSpc>
                <a:spcPts val="4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 A control methodology that automatically adjusts its parameters in real time to maintain performance under uncertainty.</a:t>
            </a:r>
            <a:endParaRPr lang="zh-CN" altLang="en-US" sz="27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445323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曲线"/>
          <p:cNvSpPr>
            <a:spLocks/>
          </p:cNvSpPr>
          <p:nvPr/>
        </p:nvSpPr>
        <p:spPr>
          <a:xfrm rot="0">
            <a:off x="-2057400" y="-1258963"/>
            <a:ext cx="4114800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53" name="曲线"/>
          <p:cNvSpPr>
            <a:spLocks/>
          </p:cNvSpPr>
          <p:nvPr/>
        </p:nvSpPr>
        <p:spPr>
          <a:xfrm rot="0">
            <a:off x="-1702233" y="-903795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54" name="曲线"/>
          <p:cNvSpPr>
            <a:spLocks/>
          </p:cNvSpPr>
          <p:nvPr/>
        </p:nvSpPr>
        <p:spPr>
          <a:xfrm rot="0">
            <a:off x="16230600" y="7200900"/>
            <a:ext cx="4114798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55" name="曲线"/>
          <p:cNvSpPr>
            <a:spLocks/>
          </p:cNvSpPr>
          <p:nvPr/>
        </p:nvSpPr>
        <p:spPr>
          <a:xfrm rot="0">
            <a:off x="16585766" y="7556066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58" name="Combination"/>
          <p:cNvGrpSpPr>
            <a:grpSpLocks/>
          </p:cNvGrpSpPr>
          <p:nvPr/>
        </p:nvGrpSpPr>
        <p:grpSpPr>
          <a:xfrm>
            <a:off x="12319137" y="9258300"/>
            <a:ext cx="3911463" cy="3911462"/>
            <a:chOff x="12319137" y="9258300"/>
            <a:chExt cx="3911463" cy="3911462"/>
          </a:xfrm>
        </p:grpSpPr>
        <p:sp>
          <p:nvSpPr>
            <p:cNvPr id="56" name="曲线"/>
            <p:cNvSpPr>
              <a:spLocks/>
            </p:cNvSpPr>
            <p:nvPr/>
          </p:nvSpPr>
          <p:spPr>
            <a:xfrm rot="0">
              <a:off x="12319137" y="9258300"/>
              <a:ext cx="3911463" cy="391146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57" name="Rectangles"/>
            <p:cNvSpPr>
              <a:spLocks/>
            </p:cNvSpPr>
            <p:nvPr/>
          </p:nvSpPr>
          <p:spPr>
            <a:xfrm rot="0">
              <a:off x="12685838" y="9441650"/>
              <a:ext cx="3178063" cy="336141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59" name="曲线"/>
          <p:cNvSpPr>
            <a:spLocks/>
          </p:cNvSpPr>
          <p:nvPr/>
        </p:nvSpPr>
        <p:spPr>
          <a:xfrm rot="0">
            <a:off x="16998732" y="7969033"/>
            <a:ext cx="2578532" cy="2578532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60" name="曲线"/>
          <p:cNvSpPr>
            <a:spLocks/>
          </p:cNvSpPr>
          <p:nvPr/>
        </p:nvSpPr>
        <p:spPr>
          <a:xfrm rot="0">
            <a:off x="-1289267" y="-490829"/>
            <a:ext cx="2578533" cy="257853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63" name="Combination"/>
          <p:cNvGrpSpPr>
            <a:grpSpLocks/>
          </p:cNvGrpSpPr>
          <p:nvPr/>
        </p:nvGrpSpPr>
        <p:grpSpPr>
          <a:xfrm>
            <a:off x="2129385" y="-2859527"/>
            <a:ext cx="3911463" cy="3911463"/>
            <a:chOff x="2129385" y="-2859527"/>
            <a:chExt cx="3911463" cy="3911463"/>
          </a:xfrm>
        </p:grpSpPr>
        <p:sp>
          <p:nvSpPr>
            <p:cNvPr id="61" name="曲线"/>
            <p:cNvSpPr>
              <a:spLocks/>
            </p:cNvSpPr>
            <p:nvPr/>
          </p:nvSpPr>
          <p:spPr>
            <a:xfrm rot="0">
              <a:off x="2129385" y="-2859527"/>
              <a:ext cx="3911463" cy="391146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62" name="Rectangles"/>
            <p:cNvSpPr>
              <a:spLocks/>
            </p:cNvSpPr>
            <p:nvPr/>
          </p:nvSpPr>
          <p:spPr>
            <a:xfrm rot="0">
              <a:off x="2496084" y="-2676177"/>
              <a:ext cx="3178063" cy="336141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64" name="Rectangles"/>
          <p:cNvSpPr>
            <a:spLocks/>
          </p:cNvSpPr>
          <p:nvPr/>
        </p:nvSpPr>
        <p:spPr>
          <a:xfrm rot="0">
            <a:off x="3325185" y="1748910"/>
            <a:ext cx="11637630" cy="6578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5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700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 CLASSICAL CONTROL </a:t>
            </a:r>
            <a:r>
              <a:rPr lang="en-US" altLang="zh-CN" sz="3700" b="1" i="0" u="none" strike="noStrike" kern="1200" cap="none" spc="0" baseline="0">
                <a:solidFill>
                  <a:srgbClr val="A19695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VS </a:t>
            </a:r>
            <a:r>
              <a:rPr lang="en-US" altLang="zh-CN" sz="3700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ADAPTIVE CONTROL</a:t>
            </a:r>
            <a:endParaRPr lang="zh-CN" altLang="en-US" sz="3700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sp>
        <p:nvSpPr>
          <p:cNvPr id="65" name="Rectangles"/>
          <p:cNvSpPr>
            <a:spLocks/>
          </p:cNvSpPr>
          <p:nvPr/>
        </p:nvSpPr>
        <p:spPr>
          <a:xfrm rot="0">
            <a:off x="2518794" y="4252259"/>
            <a:ext cx="3348606" cy="4865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8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36" b="1" i="0" u="none" strike="noStrike" kern="1200" cap="none" spc="0" baseline="0">
                <a:solidFill>
                  <a:srgbClr val="000000"/>
                </a:solidFill>
                <a:latin typeface="Open Sans Bold" pitchFamily="0" charset="0"/>
                <a:ea typeface="Open Sans Bold" pitchFamily="0" charset="0"/>
                <a:cs typeface="Open Sans Bold" pitchFamily="0" charset="0"/>
                <a:sym typeface="Open Sans Bold" pitchFamily="0" charset="0"/>
              </a:rPr>
              <a:t>Classical Control</a:t>
            </a:r>
            <a:endParaRPr lang="zh-CN" altLang="en-US" sz="2736" b="1" i="0" u="none" strike="noStrike" kern="1200" cap="none" spc="0" baseline="0">
              <a:solidFill>
                <a:srgbClr val="000000"/>
              </a:solidFill>
              <a:latin typeface="Open Sans Bold" pitchFamily="0" charset="0"/>
              <a:ea typeface="Open Sans Bold" pitchFamily="0" charset="0"/>
              <a:cs typeface="Open Sans Bold" pitchFamily="0" charset="0"/>
              <a:sym typeface="Open Sans Bold" pitchFamily="0" charset="0"/>
            </a:endParaRPr>
          </a:p>
        </p:txBody>
      </p:sp>
      <p:sp>
        <p:nvSpPr>
          <p:cNvPr id="66" name="Rectangles"/>
          <p:cNvSpPr>
            <a:spLocks/>
          </p:cNvSpPr>
          <p:nvPr/>
        </p:nvSpPr>
        <p:spPr>
          <a:xfrm rot="0">
            <a:off x="10313176" y="4252259"/>
            <a:ext cx="3250424" cy="4865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8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36" b="1" i="0" u="none" strike="noStrike" kern="1200" cap="none" spc="0" baseline="0">
                <a:solidFill>
                  <a:srgbClr val="000000"/>
                </a:solidFill>
                <a:latin typeface="Open Sans Bold" pitchFamily="0" charset="0"/>
                <a:ea typeface="Open Sans Bold" pitchFamily="0" charset="0"/>
                <a:cs typeface="Open Sans Bold" pitchFamily="0" charset="0"/>
                <a:sym typeface="Open Sans Bold" pitchFamily="0" charset="0"/>
              </a:rPr>
              <a:t>Adaptive Control</a:t>
            </a:r>
            <a:endParaRPr lang="zh-CN" altLang="en-US" sz="2736" b="1" i="0" u="none" strike="noStrike" kern="1200" cap="none" spc="0" baseline="0">
              <a:solidFill>
                <a:srgbClr val="000000"/>
              </a:solidFill>
              <a:latin typeface="Open Sans Bold" pitchFamily="0" charset="0"/>
              <a:ea typeface="Open Sans Bold" pitchFamily="0" charset="0"/>
              <a:cs typeface="Open Sans Bold" pitchFamily="0" charset="0"/>
              <a:sym typeface="Open Sans Bold" pitchFamily="0" charset="0"/>
            </a:endParaRPr>
          </a:p>
        </p:txBody>
      </p:sp>
      <p:sp>
        <p:nvSpPr>
          <p:cNvPr id="67" name="Rectangles"/>
          <p:cNvSpPr>
            <a:spLocks/>
          </p:cNvSpPr>
          <p:nvPr/>
        </p:nvSpPr>
        <p:spPr>
          <a:xfrm rot="0">
            <a:off x="2518794" y="4887652"/>
            <a:ext cx="5787005" cy="34703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lvl="1" marL="581914" indent="-290957" algn="l">
              <a:lnSpc>
                <a:spcPts val="593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Requires known system model</a:t>
            </a:r>
            <a:endParaRPr lang="en-US" altLang="zh-CN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81914" indent="-290957" algn="l">
              <a:lnSpc>
                <a:spcPts val="593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Fixed parameters</a:t>
            </a:r>
            <a:endParaRPr lang="en-US" altLang="zh-CN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81914" indent="-290957" algn="l">
              <a:lnSpc>
                <a:spcPts val="593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Sensitive to disturbances</a:t>
            </a:r>
            <a:endParaRPr lang="en-US" altLang="zh-CN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81914" indent="-290957" algn="l">
              <a:lnSpc>
                <a:spcPts val="593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No learning</a:t>
            </a:r>
            <a:endParaRPr lang="en-US" altLang="zh-CN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81914" indent="-290957" algn="l">
              <a:lnSpc>
                <a:spcPts val="593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Good for stable environments</a:t>
            </a:r>
            <a:endParaRPr lang="zh-CN" altLang="en-US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  <p:sp>
        <p:nvSpPr>
          <p:cNvPr id="68" name="Rectangles"/>
          <p:cNvSpPr>
            <a:spLocks/>
          </p:cNvSpPr>
          <p:nvPr/>
        </p:nvSpPr>
        <p:spPr>
          <a:xfrm rot="0">
            <a:off x="10313176" y="4887652"/>
            <a:ext cx="7593824" cy="34703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lvl="1" marL="581914" indent="-290957" algn="l">
              <a:lnSpc>
                <a:spcPts val="593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System model may be unknown or changing</a:t>
            </a:r>
            <a:endParaRPr lang="en-US" altLang="zh-CN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81914" indent="-290957" algn="l">
              <a:lnSpc>
                <a:spcPts val="593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Parameters change dynamically</a:t>
            </a:r>
            <a:endParaRPr lang="en-US" altLang="zh-CN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81914" indent="-290957" algn="l">
              <a:lnSpc>
                <a:spcPts val="593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Robust to disturbances</a:t>
            </a:r>
            <a:endParaRPr lang="en-US" altLang="zh-CN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81914" indent="-290957" algn="l">
              <a:lnSpc>
                <a:spcPts val="593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Continuous learning</a:t>
            </a:r>
            <a:endParaRPr lang="en-US" altLang="zh-CN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81914" indent="-290957" algn="l">
              <a:lnSpc>
                <a:spcPts val="593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Needed for dynamic environments</a:t>
            </a:r>
            <a:endParaRPr lang="zh-CN" altLang="en-US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361738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曲线"/>
          <p:cNvSpPr>
            <a:spLocks/>
          </p:cNvSpPr>
          <p:nvPr/>
        </p:nvSpPr>
        <p:spPr>
          <a:xfrm rot="0">
            <a:off x="-2057400" y="-1258963"/>
            <a:ext cx="4114800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70" name="曲线"/>
          <p:cNvSpPr>
            <a:spLocks/>
          </p:cNvSpPr>
          <p:nvPr/>
        </p:nvSpPr>
        <p:spPr>
          <a:xfrm rot="0">
            <a:off x="-1702233" y="-903795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71" name="Rectangles"/>
          <p:cNvSpPr>
            <a:spLocks/>
          </p:cNvSpPr>
          <p:nvPr/>
        </p:nvSpPr>
        <p:spPr>
          <a:xfrm rot="0">
            <a:off x="4091647" y="833044"/>
            <a:ext cx="10901697" cy="942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74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300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 Motivation &amp; </a:t>
            </a:r>
            <a:r>
              <a:rPr lang="en-US" altLang="zh-CN" sz="5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Systemic</a:t>
            </a:r>
            <a:r>
              <a:rPr lang="en-US" altLang="zh-CN" sz="5300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 Need</a:t>
            </a:r>
            <a:endParaRPr lang="zh-CN" altLang="en-US" sz="5300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sp>
        <p:nvSpPr>
          <p:cNvPr id="72" name="曲线"/>
          <p:cNvSpPr>
            <a:spLocks/>
          </p:cNvSpPr>
          <p:nvPr/>
        </p:nvSpPr>
        <p:spPr>
          <a:xfrm rot="0">
            <a:off x="16230600" y="7200900"/>
            <a:ext cx="4114798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73" name="曲线"/>
          <p:cNvSpPr>
            <a:spLocks/>
          </p:cNvSpPr>
          <p:nvPr/>
        </p:nvSpPr>
        <p:spPr>
          <a:xfrm rot="0">
            <a:off x="16585766" y="7556066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76" name="Combination"/>
          <p:cNvGrpSpPr>
            <a:grpSpLocks/>
          </p:cNvGrpSpPr>
          <p:nvPr/>
        </p:nvGrpSpPr>
        <p:grpSpPr>
          <a:xfrm>
            <a:off x="12319137" y="9258300"/>
            <a:ext cx="3911463" cy="3911462"/>
            <a:chOff x="12319137" y="9258300"/>
            <a:chExt cx="3911463" cy="3911462"/>
          </a:xfrm>
        </p:grpSpPr>
        <p:sp>
          <p:nvSpPr>
            <p:cNvPr id="74" name="曲线"/>
            <p:cNvSpPr>
              <a:spLocks/>
            </p:cNvSpPr>
            <p:nvPr/>
          </p:nvSpPr>
          <p:spPr>
            <a:xfrm rot="0">
              <a:off x="12319137" y="9258300"/>
              <a:ext cx="3911463" cy="391146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75" name="Rectangles"/>
            <p:cNvSpPr>
              <a:spLocks/>
            </p:cNvSpPr>
            <p:nvPr/>
          </p:nvSpPr>
          <p:spPr>
            <a:xfrm rot="0">
              <a:off x="12685838" y="9441650"/>
              <a:ext cx="3178063" cy="336141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77" name="曲线"/>
          <p:cNvSpPr>
            <a:spLocks/>
          </p:cNvSpPr>
          <p:nvPr/>
        </p:nvSpPr>
        <p:spPr>
          <a:xfrm rot="0">
            <a:off x="16998732" y="7969033"/>
            <a:ext cx="2578532" cy="2578532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78" name="曲线"/>
          <p:cNvSpPr>
            <a:spLocks/>
          </p:cNvSpPr>
          <p:nvPr/>
        </p:nvSpPr>
        <p:spPr>
          <a:xfrm rot="0">
            <a:off x="-1289267" y="-490829"/>
            <a:ext cx="2578533" cy="257853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81" name="Combination"/>
          <p:cNvGrpSpPr>
            <a:grpSpLocks/>
          </p:cNvGrpSpPr>
          <p:nvPr/>
        </p:nvGrpSpPr>
        <p:grpSpPr>
          <a:xfrm>
            <a:off x="2129385" y="-2859527"/>
            <a:ext cx="3911463" cy="3911463"/>
            <a:chOff x="2129385" y="-2859527"/>
            <a:chExt cx="3911463" cy="3911463"/>
          </a:xfrm>
        </p:grpSpPr>
        <p:sp>
          <p:nvSpPr>
            <p:cNvPr id="79" name="曲线"/>
            <p:cNvSpPr>
              <a:spLocks/>
            </p:cNvSpPr>
            <p:nvPr/>
          </p:nvSpPr>
          <p:spPr>
            <a:xfrm rot="0">
              <a:off x="2129385" y="-2859527"/>
              <a:ext cx="3911463" cy="391146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80" name="Rectangles"/>
            <p:cNvSpPr>
              <a:spLocks/>
            </p:cNvSpPr>
            <p:nvPr/>
          </p:nvSpPr>
          <p:spPr>
            <a:xfrm rot="0">
              <a:off x="2496084" y="-2676177"/>
              <a:ext cx="3178063" cy="336141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82" name="Rectangles"/>
          <p:cNvSpPr>
            <a:spLocks/>
          </p:cNvSpPr>
          <p:nvPr/>
        </p:nvSpPr>
        <p:spPr>
          <a:xfrm rot="0">
            <a:off x="1257719" y="3558263"/>
            <a:ext cx="15076870" cy="551602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4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Examples where fixed controllers fail:</a:t>
            </a:r>
            <a:endParaRPr lang="en-US" altLang="zh-CN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81914" indent="-290957" algn="l">
              <a:lnSpc>
                <a:spcPts val="4716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Nonlinear underactuated robots</a:t>
            </a:r>
            <a:endParaRPr lang="en-US" altLang="zh-CN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81914" indent="-290957" algn="l">
              <a:lnSpc>
                <a:spcPts val="4716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UAVs with rapidly changing aerodynamics</a:t>
            </a:r>
            <a:endParaRPr lang="en-US" altLang="zh-CN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81914" indent="-290957" algn="l">
              <a:lnSpc>
                <a:spcPts val="4716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Adaptive optics</a:t>
            </a:r>
            <a:endParaRPr lang="en-US" altLang="zh-CN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81914" indent="-290957" algn="l">
              <a:lnSpc>
                <a:spcPts val="4716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Soft robotic systems</a:t>
            </a:r>
            <a:endParaRPr lang="en-US" altLang="zh-CN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81914" indent="-290957" algn="l">
              <a:lnSpc>
                <a:spcPts val="4716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High-speed autonomous driving</a:t>
            </a:r>
            <a:endParaRPr lang="en-US" altLang="zh-CN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81914" indent="-290957" algn="l">
              <a:lnSpc>
                <a:spcPts val="4716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Data streams with concept drift</a:t>
            </a:r>
            <a:endParaRPr lang="en-US" altLang="zh-CN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81914" indent="-290957" algn="l">
              <a:lnSpc>
                <a:spcPts val="4716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Key Insight:</a:t>
            </a:r>
            <a:endParaRPr lang="en-US" altLang="zh-CN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81914" indent="-290957" algn="l">
              <a:lnSpc>
                <a:spcPts val="4716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 Adaptive control sits at the intersection of real-time optimization, online learning, and robust control.</a:t>
            </a:r>
            <a:endParaRPr lang="zh-CN" altLang="en-US" sz="26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  <p:sp>
        <p:nvSpPr>
          <p:cNvPr id="83" name="Rectangles"/>
          <p:cNvSpPr>
            <a:spLocks/>
          </p:cNvSpPr>
          <p:nvPr/>
        </p:nvSpPr>
        <p:spPr>
          <a:xfrm rot="0">
            <a:off x="2233375" y="2161874"/>
            <a:ext cx="14101215" cy="186347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48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Modern systems with high uncertainty, non-stationary dynamics, and unmodeled nonlinearities require controllers that learn and restructure their parameters at runtime.</a:t>
            </a:r>
            <a:endParaRPr lang="zh-CN" altLang="en-US" sz="27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240697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曲线"/>
          <p:cNvSpPr>
            <a:spLocks/>
          </p:cNvSpPr>
          <p:nvPr/>
        </p:nvSpPr>
        <p:spPr>
          <a:xfrm rot="0">
            <a:off x="-2057400" y="-1258963"/>
            <a:ext cx="4114800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85" name="曲线"/>
          <p:cNvSpPr>
            <a:spLocks/>
          </p:cNvSpPr>
          <p:nvPr/>
        </p:nvSpPr>
        <p:spPr>
          <a:xfrm rot="0">
            <a:off x="-1702233" y="-903795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86" name="曲线"/>
          <p:cNvSpPr>
            <a:spLocks/>
          </p:cNvSpPr>
          <p:nvPr/>
        </p:nvSpPr>
        <p:spPr>
          <a:xfrm rot="0">
            <a:off x="16230600" y="7200900"/>
            <a:ext cx="4114798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87" name="曲线"/>
          <p:cNvSpPr>
            <a:spLocks/>
          </p:cNvSpPr>
          <p:nvPr/>
        </p:nvSpPr>
        <p:spPr>
          <a:xfrm rot="0">
            <a:off x="16585766" y="7556066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90" name="Combination"/>
          <p:cNvGrpSpPr>
            <a:grpSpLocks/>
          </p:cNvGrpSpPr>
          <p:nvPr/>
        </p:nvGrpSpPr>
        <p:grpSpPr>
          <a:xfrm>
            <a:off x="12319137" y="9258300"/>
            <a:ext cx="3911463" cy="3911462"/>
            <a:chOff x="12319137" y="9258300"/>
            <a:chExt cx="3911463" cy="3911462"/>
          </a:xfrm>
        </p:grpSpPr>
        <p:sp>
          <p:nvSpPr>
            <p:cNvPr id="88" name="曲线"/>
            <p:cNvSpPr>
              <a:spLocks/>
            </p:cNvSpPr>
            <p:nvPr/>
          </p:nvSpPr>
          <p:spPr>
            <a:xfrm rot="0">
              <a:off x="12319137" y="9258300"/>
              <a:ext cx="3911463" cy="391146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89" name="Rectangles"/>
            <p:cNvSpPr>
              <a:spLocks/>
            </p:cNvSpPr>
            <p:nvPr/>
          </p:nvSpPr>
          <p:spPr>
            <a:xfrm rot="0">
              <a:off x="12685838" y="9441650"/>
              <a:ext cx="3178063" cy="336141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91" name="曲线"/>
          <p:cNvSpPr>
            <a:spLocks/>
          </p:cNvSpPr>
          <p:nvPr/>
        </p:nvSpPr>
        <p:spPr>
          <a:xfrm rot="0">
            <a:off x="16998732" y="7969033"/>
            <a:ext cx="2578532" cy="2578532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92" name="曲线"/>
          <p:cNvSpPr>
            <a:spLocks/>
          </p:cNvSpPr>
          <p:nvPr/>
        </p:nvSpPr>
        <p:spPr>
          <a:xfrm rot="0">
            <a:off x="-1289267" y="-490829"/>
            <a:ext cx="2578533" cy="257853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95" name="Combination"/>
          <p:cNvGrpSpPr>
            <a:grpSpLocks/>
          </p:cNvGrpSpPr>
          <p:nvPr/>
        </p:nvGrpSpPr>
        <p:grpSpPr>
          <a:xfrm>
            <a:off x="2129385" y="-2859527"/>
            <a:ext cx="3911463" cy="3911463"/>
            <a:chOff x="2129385" y="-2859527"/>
            <a:chExt cx="3911463" cy="3911463"/>
          </a:xfrm>
        </p:grpSpPr>
        <p:sp>
          <p:nvSpPr>
            <p:cNvPr id="93" name="曲线"/>
            <p:cNvSpPr>
              <a:spLocks/>
            </p:cNvSpPr>
            <p:nvPr/>
          </p:nvSpPr>
          <p:spPr>
            <a:xfrm rot="0">
              <a:off x="2129385" y="-2859527"/>
              <a:ext cx="3911463" cy="391146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94" name="Rectangles"/>
            <p:cNvSpPr>
              <a:spLocks/>
            </p:cNvSpPr>
            <p:nvPr/>
          </p:nvSpPr>
          <p:spPr>
            <a:xfrm rot="0">
              <a:off x="2496084" y="-2676177"/>
              <a:ext cx="3178063" cy="336141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96" name="Rectangles"/>
          <p:cNvSpPr>
            <a:spLocks/>
          </p:cNvSpPr>
          <p:nvPr/>
        </p:nvSpPr>
        <p:spPr>
          <a:xfrm rot="0">
            <a:off x="5831314" y="191712"/>
            <a:ext cx="9954676" cy="8177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64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599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CATEGORIES OF ADAPTIVE CONTROL</a:t>
            </a:r>
            <a:endParaRPr lang="zh-CN" altLang="en-US" sz="4599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grpSp>
        <p:nvGrpSpPr>
          <p:cNvPr id="99" name="Combination"/>
          <p:cNvGrpSpPr>
            <a:grpSpLocks/>
          </p:cNvGrpSpPr>
          <p:nvPr/>
        </p:nvGrpSpPr>
        <p:grpSpPr>
          <a:xfrm>
            <a:off x="4465350" y="2216949"/>
            <a:ext cx="8776013" cy="1775790"/>
            <a:chOff x="4465350" y="2216949"/>
            <a:chExt cx="8776013" cy="1775790"/>
          </a:xfrm>
        </p:grpSpPr>
        <p:sp>
          <p:nvSpPr>
            <p:cNvPr id="97" name="曲线"/>
            <p:cNvSpPr>
              <a:spLocks/>
            </p:cNvSpPr>
            <p:nvPr/>
          </p:nvSpPr>
          <p:spPr>
            <a:xfrm rot="0">
              <a:off x="4465350" y="2305467"/>
              <a:ext cx="8776013" cy="168727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57" y="0"/>
                  </a:moveTo>
                  <a:lnTo>
                    <a:pt x="21342" y="0"/>
                  </a:lnTo>
                  <a:cubicBezTo>
                    <a:pt x="21484" y="0"/>
                    <a:pt x="21600" y="599"/>
                    <a:pt x="21600" y="1338"/>
                  </a:cubicBezTo>
                  <a:lnTo>
                    <a:pt x="21600" y="20261"/>
                  </a:lnTo>
                  <a:cubicBezTo>
                    <a:pt x="21600" y="21000"/>
                    <a:pt x="21484" y="21600"/>
                    <a:pt x="21342" y="21600"/>
                  </a:cubicBezTo>
                  <a:lnTo>
                    <a:pt x="257" y="21600"/>
                  </a:lnTo>
                  <a:cubicBezTo>
                    <a:pt x="115" y="21600"/>
                    <a:pt x="0" y="21000"/>
                    <a:pt x="0" y="20261"/>
                  </a:cubicBezTo>
                  <a:lnTo>
                    <a:pt x="0" y="1338"/>
                  </a:lnTo>
                  <a:cubicBezTo>
                    <a:pt x="0" y="599"/>
                    <a:pt x="115" y="0"/>
                    <a:pt x="25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8" name="Rectangles"/>
            <p:cNvSpPr>
              <a:spLocks/>
            </p:cNvSpPr>
            <p:nvPr/>
          </p:nvSpPr>
          <p:spPr>
            <a:xfrm rot="0">
              <a:off x="4465350" y="2216949"/>
              <a:ext cx="8776013" cy="177579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00" name="Rectangles"/>
          <p:cNvSpPr>
            <a:spLocks/>
          </p:cNvSpPr>
          <p:nvPr/>
        </p:nvSpPr>
        <p:spPr>
          <a:xfrm rot="0">
            <a:off x="4855351" y="2397127"/>
            <a:ext cx="7934015" cy="172758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2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12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Model-Reference Adaptive Control (MRAC)</a:t>
            </a:r>
            <a:endParaRPr lang="en-US" altLang="zh-CN" sz="2112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456183" indent="-228091" algn="just">
              <a:lnSpc>
                <a:spcPts val="295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112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Tracks a reference model</a:t>
            </a:r>
            <a:endParaRPr lang="en-US" altLang="zh-CN" sz="2112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456183" indent="-228091" algn="just">
              <a:lnSpc>
                <a:spcPts val="295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112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Parameters updated to minimize tracking error</a:t>
            </a:r>
            <a:endParaRPr lang="en-US" altLang="zh-CN" sz="2112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456183" indent="-228091" algn="just">
              <a:lnSpc>
                <a:spcPts val="295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112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Guarantees stability via Lyapunov design</a:t>
            </a:r>
            <a:endParaRPr lang="en-US" altLang="zh-CN" sz="2112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marL="0" indent="0" algn="just">
              <a:lnSpc>
                <a:spcPts val="295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112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  <p:grpSp>
        <p:nvGrpSpPr>
          <p:cNvPr id="103" name="Combination"/>
          <p:cNvGrpSpPr>
            <a:grpSpLocks/>
          </p:cNvGrpSpPr>
          <p:nvPr/>
        </p:nvGrpSpPr>
        <p:grpSpPr>
          <a:xfrm>
            <a:off x="2057400" y="2207167"/>
            <a:ext cx="2196241" cy="1775790"/>
            <a:chOff x="2057400" y="2207167"/>
            <a:chExt cx="2196241" cy="1775790"/>
          </a:xfrm>
        </p:grpSpPr>
        <p:sp>
          <p:nvSpPr>
            <p:cNvPr id="101" name="曲线"/>
            <p:cNvSpPr>
              <a:spLocks/>
            </p:cNvSpPr>
            <p:nvPr/>
          </p:nvSpPr>
          <p:spPr>
            <a:xfrm rot="0">
              <a:off x="2057400" y="2295685"/>
              <a:ext cx="2196241" cy="168727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4107" y="0"/>
                  </a:moveTo>
                  <a:lnTo>
                    <a:pt x="17492" y="0"/>
                  </a:lnTo>
                  <a:cubicBezTo>
                    <a:pt x="18581" y="0"/>
                    <a:pt x="19626" y="563"/>
                    <a:pt x="20396" y="1566"/>
                  </a:cubicBezTo>
                  <a:cubicBezTo>
                    <a:pt x="21167" y="2568"/>
                    <a:pt x="21600" y="3928"/>
                    <a:pt x="21600" y="5347"/>
                  </a:cubicBezTo>
                  <a:lnTo>
                    <a:pt x="21600" y="16252"/>
                  </a:lnTo>
                  <a:cubicBezTo>
                    <a:pt x="21600" y="17671"/>
                    <a:pt x="21167" y="19031"/>
                    <a:pt x="20396" y="20033"/>
                  </a:cubicBezTo>
                  <a:cubicBezTo>
                    <a:pt x="19626" y="21036"/>
                    <a:pt x="18581" y="21600"/>
                    <a:pt x="17492" y="21600"/>
                  </a:cubicBezTo>
                  <a:lnTo>
                    <a:pt x="4107" y="21600"/>
                  </a:lnTo>
                  <a:cubicBezTo>
                    <a:pt x="3018" y="21600"/>
                    <a:pt x="1973" y="21036"/>
                    <a:pt x="1203" y="20033"/>
                  </a:cubicBezTo>
                  <a:cubicBezTo>
                    <a:pt x="432" y="19031"/>
                    <a:pt x="0" y="17671"/>
                    <a:pt x="0" y="16252"/>
                  </a:cubicBezTo>
                  <a:lnTo>
                    <a:pt x="0" y="5347"/>
                  </a:lnTo>
                  <a:cubicBezTo>
                    <a:pt x="0" y="3928"/>
                    <a:pt x="432" y="2568"/>
                    <a:pt x="1203" y="1566"/>
                  </a:cubicBezTo>
                  <a:cubicBezTo>
                    <a:pt x="1973" y="563"/>
                    <a:pt x="3018" y="0"/>
                    <a:pt x="41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2" name="Rectangles"/>
            <p:cNvSpPr>
              <a:spLocks/>
            </p:cNvSpPr>
            <p:nvPr/>
          </p:nvSpPr>
          <p:spPr>
            <a:xfrm rot="0">
              <a:off x="2057400" y="2207167"/>
              <a:ext cx="2196241" cy="177579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04" name="Rectangles"/>
          <p:cNvSpPr>
            <a:spLocks/>
          </p:cNvSpPr>
          <p:nvPr/>
        </p:nvSpPr>
        <p:spPr>
          <a:xfrm rot="0">
            <a:off x="2475134" y="2624689"/>
            <a:ext cx="1360773" cy="97891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77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507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1</a:t>
            </a:r>
            <a:endParaRPr lang="zh-CN" altLang="en-US" sz="5507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grpSp>
        <p:nvGrpSpPr>
          <p:cNvPr id="107" name="Combination"/>
          <p:cNvGrpSpPr>
            <a:grpSpLocks/>
          </p:cNvGrpSpPr>
          <p:nvPr/>
        </p:nvGrpSpPr>
        <p:grpSpPr>
          <a:xfrm>
            <a:off x="4465350" y="4129652"/>
            <a:ext cx="8776013" cy="1775791"/>
            <a:chOff x="4465350" y="4129652"/>
            <a:chExt cx="8776013" cy="1775791"/>
          </a:xfrm>
        </p:grpSpPr>
        <p:sp>
          <p:nvSpPr>
            <p:cNvPr id="105" name="曲线"/>
            <p:cNvSpPr>
              <a:spLocks/>
            </p:cNvSpPr>
            <p:nvPr/>
          </p:nvSpPr>
          <p:spPr>
            <a:xfrm rot="0">
              <a:off x="4465350" y="4218170"/>
              <a:ext cx="8776013" cy="16872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57" y="0"/>
                  </a:moveTo>
                  <a:lnTo>
                    <a:pt x="21342" y="0"/>
                  </a:lnTo>
                  <a:cubicBezTo>
                    <a:pt x="21484" y="0"/>
                    <a:pt x="21600" y="599"/>
                    <a:pt x="21600" y="1338"/>
                  </a:cubicBezTo>
                  <a:lnTo>
                    <a:pt x="21600" y="20261"/>
                  </a:lnTo>
                  <a:cubicBezTo>
                    <a:pt x="21600" y="21000"/>
                    <a:pt x="21484" y="21600"/>
                    <a:pt x="21342" y="21600"/>
                  </a:cubicBezTo>
                  <a:lnTo>
                    <a:pt x="257" y="21600"/>
                  </a:lnTo>
                  <a:cubicBezTo>
                    <a:pt x="115" y="21600"/>
                    <a:pt x="0" y="21000"/>
                    <a:pt x="0" y="20261"/>
                  </a:cubicBezTo>
                  <a:lnTo>
                    <a:pt x="0" y="1338"/>
                  </a:lnTo>
                  <a:cubicBezTo>
                    <a:pt x="0" y="599"/>
                    <a:pt x="115" y="0"/>
                    <a:pt x="25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6" name="Rectangles"/>
            <p:cNvSpPr>
              <a:spLocks/>
            </p:cNvSpPr>
            <p:nvPr/>
          </p:nvSpPr>
          <p:spPr>
            <a:xfrm rot="0">
              <a:off x="4465350" y="4129652"/>
              <a:ext cx="8776013" cy="1775791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08" name="Rectangles"/>
          <p:cNvSpPr>
            <a:spLocks/>
          </p:cNvSpPr>
          <p:nvPr/>
        </p:nvSpPr>
        <p:spPr>
          <a:xfrm rot="0">
            <a:off x="4855351" y="4429539"/>
            <a:ext cx="7934015" cy="1402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2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12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Adaptive Backstepping</a:t>
            </a:r>
            <a:endParaRPr lang="en-US" altLang="zh-CN" sz="2112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456183" indent="-228091" algn="just">
              <a:lnSpc>
                <a:spcPts val="295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112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Recursive design for nonlinear systems</a:t>
            </a:r>
            <a:endParaRPr lang="en-US" altLang="zh-CN" sz="2112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456183" indent="-228091" algn="just">
              <a:lnSpc>
                <a:spcPts val="295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112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Integrates virtual controls and adaptive laws</a:t>
            </a:r>
            <a:endParaRPr lang="en-US" altLang="zh-CN" sz="2112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marL="0" indent="0" algn="just">
              <a:lnSpc>
                <a:spcPts val="295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112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  <p:grpSp>
        <p:nvGrpSpPr>
          <p:cNvPr id="111" name="Combination"/>
          <p:cNvGrpSpPr>
            <a:grpSpLocks/>
          </p:cNvGrpSpPr>
          <p:nvPr/>
        </p:nvGrpSpPr>
        <p:grpSpPr>
          <a:xfrm>
            <a:off x="2057400" y="4119870"/>
            <a:ext cx="2196241" cy="1775790"/>
            <a:chOff x="2057400" y="4119870"/>
            <a:chExt cx="2196241" cy="1775790"/>
          </a:xfrm>
        </p:grpSpPr>
        <p:sp>
          <p:nvSpPr>
            <p:cNvPr id="109" name="曲线"/>
            <p:cNvSpPr>
              <a:spLocks/>
            </p:cNvSpPr>
            <p:nvPr/>
          </p:nvSpPr>
          <p:spPr>
            <a:xfrm rot="0">
              <a:off x="2057400" y="4208388"/>
              <a:ext cx="2196241" cy="168727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4107" y="0"/>
                  </a:moveTo>
                  <a:lnTo>
                    <a:pt x="17492" y="0"/>
                  </a:lnTo>
                  <a:cubicBezTo>
                    <a:pt x="18581" y="0"/>
                    <a:pt x="19626" y="563"/>
                    <a:pt x="20396" y="1566"/>
                  </a:cubicBezTo>
                  <a:cubicBezTo>
                    <a:pt x="21167" y="2568"/>
                    <a:pt x="21600" y="3928"/>
                    <a:pt x="21600" y="5347"/>
                  </a:cubicBezTo>
                  <a:lnTo>
                    <a:pt x="21600" y="16252"/>
                  </a:lnTo>
                  <a:cubicBezTo>
                    <a:pt x="21600" y="17671"/>
                    <a:pt x="21167" y="19031"/>
                    <a:pt x="20396" y="20033"/>
                  </a:cubicBezTo>
                  <a:cubicBezTo>
                    <a:pt x="19626" y="21036"/>
                    <a:pt x="18581" y="21600"/>
                    <a:pt x="17492" y="21600"/>
                  </a:cubicBezTo>
                  <a:lnTo>
                    <a:pt x="4107" y="21600"/>
                  </a:lnTo>
                  <a:cubicBezTo>
                    <a:pt x="3018" y="21600"/>
                    <a:pt x="1973" y="21036"/>
                    <a:pt x="1203" y="20033"/>
                  </a:cubicBezTo>
                  <a:cubicBezTo>
                    <a:pt x="432" y="19031"/>
                    <a:pt x="0" y="17671"/>
                    <a:pt x="0" y="16252"/>
                  </a:cubicBezTo>
                  <a:lnTo>
                    <a:pt x="0" y="5347"/>
                  </a:lnTo>
                  <a:cubicBezTo>
                    <a:pt x="0" y="3928"/>
                    <a:pt x="432" y="2568"/>
                    <a:pt x="1203" y="1566"/>
                  </a:cubicBezTo>
                  <a:cubicBezTo>
                    <a:pt x="1973" y="563"/>
                    <a:pt x="3018" y="0"/>
                    <a:pt x="41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0" name="Rectangles"/>
            <p:cNvSpPr>
              <a:spLocks/>
            </p:cNvSpPr>
            <p:nvPr/>
          </p:nvSpPr>
          <p:spPr>
            <a:xfrm rot="0">
              <a:off x="2057400" y="4119870"/>
              <a:ext cx="2196241" cy="177579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12" name="Rectangles"/>
          <p:cNvSpPr>
            <a:spLocks/>
          </p:cNvSpPr>
          <p:nvPr/>
        </p:nvSpPr>
        <p:spPr>
          <a:xfrm rot="0">
            <a:off x="2475134" y="4537393"/>
            <a:ext cx="1360773" cy="97891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77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507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2</a:t>
            </a:r>
            <a:endParaRPr lang="zh-CN" altLang="en-US" sz="5507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grpSp>
        <p:nvGrpSpPr>
          <p:cNvPr id="115" name="Combination"/>
          <p:cNvGrpSpPr>
            <a:grpSpLocks/>
          </p:cNvGrpSpPr>
          <p:nvPr/>
        </p:nvGrpSpPr>
        <p:grpSpPr>
          <a:xfrm>
            <a:off x="4465350" y="6039048"/>
            <a:ext cx="8776013" cy="1775790"/>
            <a:chOff x="4465350" y="6039048"/>
            <a:chExt cx="8776013" cy="1775790"/>
          </a:xfrm>
        </p:grpSpPr>
        <p:sp>
          <p:nvSpPr>
            <p:cNvPr id="113" name="曲线"/>
            <p:cNvSpPr>
              <a:spLocks/>
            </p:cNvSpPr>
            <p:nvPr/>
          </p:nvSpPr>
          <p:spPr>
            <a:xfrm rot="0">
              <a:off x="4465350" y="6127565"/>
              <a:ext cx="8776013" cy="16872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57" y="0"/>
                  </a:moveTo>
                  <a:lnTo>
                    <a:pt x="21342" y="0"/>
                  </a:lnTo>
                  <a:cubicBezTo>
                    <a:pt x="21484" y="0"/>
                    <a:pt x="21600" y="599"/>
                    <a:pt x="21600" y="1338"/>
                  </a:cubicBezTo>
                  <a:lnTo>
                    <a:pt x="21600" y="20261"/>
                  </a:lnTo>
                  <a:cubicBezTo>
                    <a:pt x="21600" y="21000"/>
                    <a:pt x="21484" y="21600"/>
                    <a:pt x="21342" y="21600"/>
                  </a:cubicBezTo>
                  <a:lnTo>
                    <a:pt x="257" y="21600"/>
                  </a:lnTo>
                  <a:cubicBezTo>
                    <a:pt x="115" y="21600"/>
                    <a:pt x="0" y="21000"/>
                    <a:pt x="0" y="20261"/>
                  </a:cubicBezTo>
                  <a:lnTo>
                    <a:pt x="0" y="1338"/>
                  </a:lnTo>
                  <a:cubicBezTo>
                    <a:pt x="0" y="599"/>
                    <a:pt x="115" y="0"/>
                    <a:pt x="25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4" name="Rectangles"/>
            <p:cNvSpPr>
              <a:spLocks/>
            </p:cNvSpPr>
            <p:nvPr/>
          </p:nvSpPr>
          <p:spPr>
            <a:xfrm rot="0">
              <a:off x="4465350" y="6039048"/>
              <a:ext cx="8776013" cy="177579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16" name="Rectangles"/>
          <p:cNvSpPr>
            <a:spLocks/>
          </p:cNvSpPr>
          <p:nvPr/>
        </p:nvSpPr>
        <p:spPr>
          <a:xfrm rot="0">
            <a:off x="4855351" y="6261052"/>
            <a:ext cx="7934015" cy="147835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3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12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Adaptive Optimal Control (AOC)</a:t>
            </a:r>
            <a:endParaRPr lang="en-US" altLang="zh-CN" sz="2212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477774" indent="-238887" algn="just">
              <a:lnSpc>
                <a:spcPts val="309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12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Reinforcement learning or DP approximates value function</a:t>
            </a:r>
            <a:endParaRPr lang="en-US" altLang="zh-CN" sz="2212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477774" indent="-238887" algn="just">
              <a:lnSpc>
                <a:spcPts val="309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12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Learns optimal policy under uncertainty</a:t>
            </a:r>
            <a:endParaRPr lang="en-US" altLang="zh-CN" sz="2212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marL="0" indent="0" algn="just">
              <a:lnSpc>
                <a:spcPts val="309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212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  <p:grpSp>
        <p:nvGrpSpPr>
          <p:cNvPr id="119" name="Combination"/>
          <p:cNvGrpSpPr>
            <a:grpSpLocks/>
          </p:cNvGrpSpPr>
          <p:nvPr/>
        </p:nvGrpSpPr>
        <p:grpSpPr>
          <a:xfrm>
            <a:off x="2057400" y="6029266"/>
            <a:ext cx="2196241" cy="1775790"/>
            <a:chOff x="2057400" y="6029266"/>
            <a:chExt cx="2196241" cy="1775790"/>
          </a:xfrm>
        </p:grpSpPr>
        <p:sp>
          <p:nvSpPr>
            <p:cNvPr id="117" name="曲线"/>
            <p:cNvSpPr>
              <a:spLocks/>
            </p:cNvSpPr>
            <p:nvPr/>
          </p:nvSpPr>
          <p:spPr>
            <a:xfrm rot="0">
              <a:off x="2057400" y="6117784"/>
              <a:ext cx="2196241" cy="16872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4107" y="0"/>
                  </a:moveTo>
                  <a:lnTo>
                    <a:pt x="17492" y="0"/>
                  </a:lnTo>
                  <a:cubicBezTo>
                    <a:pt x="18581" y="0"/>
                    <a:pt x="19626" y="563"/>
                    <a:pt x="20396" y="1566"/>
                  </a:cubicBezTo>
                  <a:cubicBezTo>
                    <a:pt x="21167" y="2568"/>
                    <a:pt x="21600" y="3928"/>
                    <a:pt x="21600" y="5347"/>
                  </a:cubicBezTo>
                  <a:lnTo>
                    <a:pt x="21600" y="16252"/>
                  </a:lnTo>
                  <a:cubicBezTo>
                    <a:pt x="21600" y="17671"/>
                    <a:pt x="21167" y="19031"/>
                    <a:pt x="20396" y="20033"/>
                  </a:cubicBezTo>
                  <a:cubicBezTo>
                    <a:pt x="19626" y="21036"/>
                    <a:pt x="18581" y="21600"/>
                    <a:pt x="17492" y="21600"/>
                  </a:cubicBezTo>
                  <a:lnTo>
                    <a:pt x="4107" y="21600"/>
                  </a:lnTo>
                  <a:cubicBezTo>
                    <a:pt x="3018" y="21600"/>
                    <a:pt x="1973" y="21036"/>
                    <a:pt x="1203" y="20033"/>
                  </a:cubicBezTo>
                  <a:cubicBezTo>
                    <a:pt x="432" y="19031"/>
                    <a:pt x="0" y="17671"/>
                    <a:pt x="0" y="16252"/>
                  </a:cubicBezTo>
                  <a:lnTo>
                    <a:pt x="0" y="5347"/>
                  </a:lnTo>
                  <a:cubicBezTo>
                    <a:pt x="0" y="3928"/>
                    <a:pt x="432" y="2568"/>
                    <a:pt x="1203" y="1566"/>
                  </a:cubicBezTo>
                  <a:cubicBezTo>
                    <a:pt x="1973" y="563"/>
                    <a:pt x="3018" y="0"/>
                    <a:pt x="41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8" name="Rectangles"/>
            <p:cNvSpPr>
              <a:spLocks/>
            </p:cNvSpPr>
            <p:nvPr/>
          </p:nvSpPr>
          <p:spPr>
            <a:xfrm rot="0">
              <a:off x="2057400" y="6029266"/>
              <a:ext cx="2196241" cy="177579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20" name="Rectangles"/>
          <p:cNvSpPr>
            <a:spLocks/>
          </p:cNvSpPr>
          <p:nvPr/>
        </p:nvSpPr>
        <p:spPr>
          <a:xfrm rot="0">
            <a:off x="2475134" y="6446789"/>
            <a:ext cx="1360773" cy="97891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77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507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3</a:t>
            </a:r>
            <a:endParaRPr lang="zh-CN" altLang="en-US" sz="5507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grpSp>
        <p:nvGrpSpPr>
          <p:cNvPr id="123" name="Combination"/>
          <p:cNvGrpSpPr>
            <a:grpSpLocks/>
          </p:cNvGrpSpPr>
          <p:nvPr/>
        </p:nvGrpSpPr>
        <p:grpSpPr>
          <a:xfrm>
            <a:off x="4465350" y="7951751"/>
            <a:ext cx="8776013" cy="1775790"/>
            <a:chOff x="4465350" y="7951751"/>
            <a:chExt cx="8776013" cy="1775790"/>
          </a:xfrm>
        </p:grpSpPr>
        <p:sp>
          <p:nvSpPr>
            <p:cNvPr id="121" name="曲线"/>
            <p:cNvSpPr>
              <a:spLocks/>
            </p:cNvSpPr>
            <p:nvPr/>
          </p:nvSpPr>
          <p:spPr>
            <a:xfrm rot="0">
              <a:off x="4465350" y="8040269"/>
              <a:ext cx="8776013" cy="16872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57" y="0"/>
                  </a:moveTo>
                  <a:lnTo>
                    <a:pt x="21342" y="0"/>
                  </a:lnTo>
                  <a:cubicBezTo>
                    <a:pt x="21484" y="0"/>
                    <a:pt x="21600" y="599"/>
                    <a:pt x="21600" y="1338"/>
                  </a:cubicBezTo>
                  <a:lnTo>
                    <a:pt x="21600" y="20261"/>
                  </a:lnTo>
                  <a:cubicBezTo>
                    <a:pt x="21600" y="21000"/>
                    <a:pt x="21484" y="21600"/>
                    <a:pt x="21342" y="21600"/>
                  </a:cubicBezTo>
                  <a:lnTo>
                    <a:pt x="257" y="21600"/>
                  </a:lnTo>
                  <a:cubicBezTo>
                    <a:pt x="115" y="21600"/>
                    <a:pt x="0" y="21000"/>
                    <a:pt x="0" y="20261"/>
                  </a:cubicBezTo>
                  <a:lnTo>
                    <a:pt x="0" y="1338"/>
                  </a:lnTo>
                  <a:cubicBezTo>
                    <a:pt x="0" y="599"/>
                    <a:pt x="115" y="0"/>
                    <a:pt x="25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2" name="Rectangles"/>
            <p:cNvSpPr>
              <a:spLocks/>
            </p:cNvSpPr>
            <p:nvPr/>
          </p:nvSpPr>
          <p:spPr>
            <a:xfrm rot="0">
              <a:off x="4465350" y="7951751"/>
              <a:ext cx="8776013" cy="177579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24" name="Rectangles"/>
          <p:cNvSpPr>
            <a:spLocks/>
          </p:cNvSpPr>
          <p:nvPr/>
        </p:nvSpPr>
        <p:spPr>
          <a:xfrm rot="0">
            <a:off x="4855351" y="8251638"/>
            <a:ext cx="7934015" cy="147835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3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12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Direct vs Indirect Adaptive Control</a:t>
            </a:r>
            <a:endParaRPr lang="en-US" altLang="zh-CN" sz="2212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477774" indent="-238887" algn="just">
              <a:lnSpc>
                <a:spcPts val="309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12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Direct: parameters of control law updated directly</a:t>
            </a:r>
            <a:endParaRPr lang="en-US" altLang="zh-CN" sz="2212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477774" indent="-238887" algn="just">
              <a:lnSpc>
                <a:spcPts val="309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12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Indirect: system model estimated first</a:t>
            </a:r>
            <a:endParaRPr lang="en-US" altLang="zh-CN" sz="2212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marL="0" indent="0" algn="just">
              <a:lnSpc>
                <a:spcPts val="309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212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  <p:grpSp>
        <p:nvGrpSpPr>
          <p:cNvPr id="127" name="Combination"/>
          <p:cNvGrpSpPr>
            <a:grpSpLocks/>
          </p:cNvGrpSpPr>
          <p:nvPr/>
        </p:nvGrpSpPr>
        <p:grpSpPr>
          <a:xfrm>
            <a:off x="2057400" y="7941969"/>
            <a:ext cx="2196241" cy="1775791"/>
            <a:chOff x="2057400" y="7941969"/>
            <a:chExt cx="2196241" cy="1775791"/>
          </a:xfrm>
        </p:grpSpPr>
        <p:sp>
          <p:nvSpPr>
            <p:cNvPr id="125" name="曲线"/>
            <p:cNvSpPr>
              <a:spLocks/>
            </p:cNvSpPr>
            <p:nvPr/>
          </p:nvSpPr>
          <p:spPr>
            <a:xfrm rot="0">
              <a:off x="2057400" y="8030487"/>
              <a:ext cx="2196241" cy="16872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4107" y="0"/>
                  </a:moveTo>
                  <a:lnTo>
                    <a:pt x="17492" y="0"/>
                  </a:lnTo>
                  <a:cubicBezTo>
                    <a:pt x="18581" y="0"/>
                    <a:pt x="19626" y="563"/>
                    <a:pt x="20396" y="1566"/>
                  </a:cubicBezTo>
                  <a:cubicBezTo>
                    <a:pt x="21167" y="2568"/>
                    <a:pt x="21600" y="3928"/>
                    <a:pt x="21600" y="5347"/>
                  </a:cubicBezTo>
                  <a:lnTo>
                    <a:pt x="21600" y="16252"/>
                  </a:lnTo>
                  <a:cubicBezTo>
                    <a:pt x="21600" y="17671"/>
                    <a:pt x="21167" y="19031"/>
                    <a:pt x="20396" y="20033"/>
                  </a:cubicBezTo>
                  <a:cubicBezTo>
                    <a:pt x="19626" y="21036"/>
                    <a:pt x="18581" y="21600"/>
                    <a:pt x="17492" y="21600"/>
                  </a:cubicBezTo>
                  <a:lnTo>
                    <a:pt x="4107" y="21600"/>
                  </a:lnTo>
                  <a:cubicBezTo>
                    <a:pt x="3018" y="21600"/>
                    <a:pt x="1973" y="21036"/>
                    <a:pt x="1203" y="20033"/>
                  </a:cubicBezTo>
                  <a:cubicBezTo>
                    <a:pt x="432" y="19031"/>
                    <a:pt x="0" y="17671"/>
                    <a:pt x="0" y="16252"/>
                  </a:cubicBezTo>
                  <a:lnTo>
                    <a:pt x="0" y="5347"/>
                  </a:lnTo>
                  <a:cubicBezTo>
                    <a:pt x="0" y="3928"/>
                    <a:pt x="432" y="2568"/>
                    <a:pt x="1203" y="1566"/>
                  </a:cubicBezTo>
                  <a:cubicBezTo>
                    <a:pt x="1973" y="563"/>
                    <a:pt x="3018" y="0"/>
                    <a:pt x="41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6" name="Rectangles"/>
            <p:cNvSpPr>
              <a:spLocks/>
            </p:cNvSpPr>
            <p:nvPr/>
          </p:nvSpPr>
          <p:spPr>
            <a:xfrm rot="0">
              <a:off x="2057400" y="7941969"/>
              <a:ext cx="2196241" cy="1775791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28" name="Rectangles"/>
          <p:cNvSpPr>
            <a:spLocks/>
          </p:cNvSpPr>
          <p:nvPr/>
        </p:nvSpPr>
        <p:spPr>
          <a:xfrm rot="0">
            <a:off x="2475134" y="8359492"/>
            <a:ext cx="1360773" cy="97891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77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507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4</a:t>
            </a:r>
            <a:endParaRPr lang="zh-CN" altLang="en-US" sz="5507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232733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曲线"/>
          <p:cNvSpPr>
            <a:spLocks/>
          </p:cNvSpPr>
          <p:nvPr/>
        </p:nvSpPr>
        <p:spPr>
          <a:xfrm rot="0">
            <a:off x="-2057400" y="-1258963"/>
            <a:ext cx="4114800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30" name="曲线"/>
          <p:cNvSpPr>
            <a:spLocks/>
          </p:cNvSpPr>
          <p:nvPr/>
        </p:nvSpPr>
        <p:spPr>
          <a:xfrm rot="0">
            <a:off x="-1702233" y="-903795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31" name="曲线"/>
          <p:cNvSpPr>
            <a:spLocks/>
          </p:cNvSpPr>
          <p:nvPr/>
        </p:nvSpPr>
        <p:spPr>
          <a:xfrm rot="0">
            <a:off x="16230600" y="7200900"/>
            <a:ext cx="4114798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32" name="曲线"/>
          <p:cNvSpPr>
            <a:spLocks/>
          </p:cNvSpPr>
          <p:nvPr/>
        </p:nvSpPr>
        <p:spPr>
          <a:xfrm rot="0">
            <a:off x="16585766" y="7556066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135" name="Combination"/>
          <p:cNvGrpSpPr>
            <a:grpSpLocks/>
          </p:cNvGrpSpPr>
          <p:nvPr/>
        </p:nvGrpSpPr>
        <p:grpSpPr>
          <a:xfrm>
            <a:off x="12319137" y="9258300"/>
            <a:ext cx="3911463" cy="3911462"/>
            <a:chOff x="12319137" y="9258300"/>
            <a:chExt cx="3911463" cy="3911462"/>
          </a:xfrm>
        </p:grpSpPr>
        <p:sp>
          <p:nvSpPr>
            <p:cNvPr id="133" name="曲线"/>
            <p:cNvSpPr>
              <a:spLocks/>
            </p:cNvSpPr>
            <p:nvPr/>
          </p:nvSpPr>
          <p:spPr>
            <a:xfrm rot="0">
              <a:off x="12319137" y="9258300"/>
              <a:ext cx="3911463" cy="391146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34" name="Rectangles"/>
            <p:cNvSpPr>
              <a:spLocks/>
            </p:cNvSpPr>
            <p:nvPr/>
          </p:nvSpPr>
          <p:spPr>
            <a:xfrm rot="0">
              <a:off x="12685838" y="9441650"/>
              <a:ext cx="3178063" cy="336141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36" name="曲线"/>
          <p:cNvSpPr>
            <a:spLocks/>
          </p:cNvSpPr>
          <p:nvPr/>
        </p:nvSpPr>
        <p:spPr>
          <a:xfrm rot="0">
            <a:off x="16998732" y="7969033"/>
            <a:ext cx="2578532" cy="2578532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37" name="曲线"/>
          <p:cNvSpPr>
            <a:spLocks/>
          </p:cNvSpPr>
          <p:nvPr/>
        </p:nvSpPr>
        <p:spPr>
          <a:xfrm rot="0">
            <a:off x="-1289267" y="-490829"/>
            <a:ext cx="2578533" cy="257853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140" name="Combination"/>
          <p:cNvGrpSpPr>
            <a:grpSpLocks/>
          </p:cNvGrpSpPr>
          <p:nvPr/>
        </p:nvGrpSpPr>
        <p:grpSpPr>
          <a:xfrm>
            <a:off x="2129385" y="-2859527"/>
            <a:ext cx="3911463" cy="3911463"/>
            <a:chOff x="2129385" y="-2859527"/>
            <a:chExt cx="3911463" cy="3911463"/>
          </a:xfrm>
        </p:grpSpPr>
        <p:sp>
          <p:nvSpPr>
            <p:cNvPr id="138" name="曲线"/>
            <p:cNvSpPr>
              <a:spLocks/>
            </p:cNvSpPr>
            <p:nvPr/>
          </p:nvSpPr>
          <p:spPr>
            <a:xfrm rot="0">
              <a:off x="2129385" y="-2859527"/>
              <a:ext cx="3911463" cy="391146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39" name="Rectangles"/>
            <p:cNvSpPr>
              <a:spLocks/>
            </p:cNvSpPr>
            <p:nvPr/>
          </p:nvSpPr>
          <p:spPr>
            <a:xfrm rot="0">
              <a:off x="2496084" y="-2676177"/>
              <a:ext cx="3178063" cy="336141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41" name="Rectangles"/>
          <p:cNvSpPr>
            <a:spLocks/>
          </p:cNvSpPr>
          <p:nvPr/>
        </p:nvSpPr>
        <p:spPr>
          <a:xfrm rot="0">
            <a:off x="3810000" y="3670378"/>
            <a:ext cx="11249542" cy="46703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5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999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Adaptive control intersects ML when:</a:t>
            </a:r>
            <a:endParaRPr lang="en-US" altLang="zh-CN" sz="3999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marL="0" indent="0" algn="just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3999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755396" indent="-377698" algn="just">
              <a:lnSpc>
                <a:spcPts val="657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4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The adaptation law uses ML models</a:t>
            </a:r>
            <a:endParaRPr lang="en-US" altLang="zh-CN" sz="34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755396" indent="-377698" algn="just">
              <a:lnSpc>
                <a:spcPts val="657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4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The controller uses online learning</a:t>
            </a:r>
            <a:endParaRPr lang="en-US" altLang="zh-CN" sz="34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755396" indent="-377698" algn="just">
              <a:lnSpc>
                <a:spcPts val="657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4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System identification is done with neural networks</a:t>
            </a:r>
            <a:endParaRPr lang="en-US" altLang="zh-CN" sz="34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755396" indent="-377698" algn="just">
              <a:lnSpc>
                <a:spcPts val="657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4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Reinforcement learning replaces classical control</a:t>
            </a:r>
            <a:endParaRPr lang="en-US" altLang="zh-CN" sz="34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marL="0" indent="0" algn="just">
              <a:lnSpc>
                <a:spcPts val="48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34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  <p:sp>
        <p:nvSpPr>
          <p:cNvPr id="142" name="Rectangles"/>
          <p:cNvSpPr>
            <a:spLocks/>
          </p:cNvSpPr>
          <p:nvPr/>
        </p:nvSpPr>
        <p:spPr>
          <a:xfrm rot="0">
            <a:off x="3653164" y="1673400"/>
            <a:ext cx="10981670" cy="7999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6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99" b="1" i="0" u="none" strike="noStrike" kern="1200" cap="none" spc="0" baseline="0">
                <a:solidFill>
                  <a:srgbClr val="000000"/>
                </a:solidFill>
                <a:latin typeface="Open Sans Bold" pitchFamily="0" charset="0"/>
                <a:ea typeface="Open Sans Bold" pitchFamily="0" charset="0"/>
                <a:cs typeface="Open Sans Bold" pitchFamily="0" charset="0"/>
                <a:sym typeface="Open Sans Bold" pitchFamily="0" charset="0"/>
              </a:rPr>
              <a:t>Adaptive Control in Machine Learning</a:t>
            </a:r>
            <a:endParaRPr lang="zh-CN" altLang="en-US" sz="4499" b="1" i="0" u="none" strike="noStrike" kern="1200" cap="none" spc="0" baseline="0">
              <a:solidFill>
                <a:srgbClr val="000000"/>
              </a:solidFill>
              <a:latin typeface="Open Sans Bold" pitchFamily="0" charset="0"/>
              <a:ea typeface="Open Sans Bold" pitchFamily="0" charset="0"/>
              <a:cs typeface="Open Sans Bold" pitchFamily="0" charset="0"/>
              <a:sym typeface="Open Sans Bol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314465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曲线"/>
          <p:cNvSpPr>
            <a:spLocks/>
          </p:cNvSpPr>
          <p:nvPr/>
        </p:nvSpPr>
        <p:spPr>
          <a:xfrm rot="0">
            <a:off x="-2057400" y="-1258963"/>
            <a:ext cx="4114800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44" name="曲线"/>
          <p:cNvSpPr>
            <a:spLocks/>
          </p:cNvSpPr>
          <p:nvPr/>
        </p:nvSpPr>
        <p:spPr>
          <a:xfrm rot="0">
            <a:off x="-1702233" y="-903795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45" name="曲线"/>
          <p:cNvSpPr>
            <a:spLocks/>
          </p:cNvSpPr>
          <p:nvPr/>
        </p:nvSpPr>
        <p:spPr>
          <a:xfrm rot="0">
            <a:off x="16422582" y="7472875"/>
            <a:ext cx="4114800" cy="4114799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46" name="曲线"/>
          <p:cNvSpPr>
            <a:spLocks/>
          </p:cNvSpPr>
          <p:nvPr/>
        </p:nvSpPr>
        <p:spPr>
          <a:xfrm rot="0">
            <a:off x="16777748" y="7828042"/>
            <a:ext cx="3404466" cy="3404466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149" name="Combination"/>
          <p:cNvGrpSpPr>
            <a:grpSpLocks/>
          </p:cNvGrpSpPr>
          <p:nvPr/>
        </p:nvGrpSpPr>
        <p:grpSpPr>
          <a:xfrm>
            <a:off x="12319137" y="9258300"/>
            <a:ext cx="3911463" cy="3911462"/>
            <a:chOff x="12319137" y="9258300"/>
            <a:chExt cx="3911463" cy="3911462"/>
          </a:xfrm>
        </p:grpSpPr>
        <p:sp>
          <p:nvSpPr>
            <p:cNvPr id="147" name="曲线"/>
            <p:cNvSpPr>
              <a:spLocks/>
            </p:cNvSpPr>
            <p:nvPr/>
          </p:nvSpPr>
          <p:spPr>
            <a:xfrm rot="0">
              <a:off x="12319137" y="9258300"/>
              <a:ext cx="3911463" cy="391146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48" name="Rectangles"/>
            <p:cNvSpPr>
              <a:spLocks/>
            </p:cNvSpPr>
            <p:nvPr/>
          </p:nvSpPr>
          <p:spPr>
            <a:xfrm rot="0">
              <a:off x="12685838" y="9441650"/>
              <a:ext cx="3178063" cy="336141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50" name="曲线"/>
          <p:cNvSpPr>
            <a:spLocks/>
          </p:cNvSpPr>
          <p:nvPr/>
        </p:nvSpPr>
        <p:spPr>
          <a:xfrm rot="0">
            <a:off x="17190716" y="8241008"/>
            <a:ext cx="2578532" cy="257853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51" name="曲线"/>
          <p:cNvSpPr>
            <a:spLocks/>
          </p:cNvSpPr>
          <p:nvPr/>
        </p:nvSpPr>
        <p:spPr>
          <a:xfrm rot="0">
            <a:off x="-1289267" y="-490829"/>
            <a:ext cx="2578533" cy="257853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154" name="Combination"/>
          <p:cNvGrpSpPr>
            <a:grpSpLocks/>
          </p:cNvGrpSpPr>
          <p:nvPr/>
        </p:nvGrpSpPr>
        <p:grpSpPr>
          <a:xfrm>
            <a:off x="2129385" y="-2859527"/>
            <a:ext cx="3911463" cy="3911463"/>
            <a:chOff x="2129385" y="-2859527"/>
            <a:chExt cx="3911463" cy="3911463"/>
          </a:xfrm>
        </p:grpSpPr>
        <p:sp>
          <p:nvSpPr>
            <p:cNvPr id="152" name="曲线"/>
            <p:cNvSpPr>
              <a:spLocks/>
            </p:cNvSpPr>
            <p:nvPr/>
          </p:nvSpPr>
          <p:spPr>
            <a:xfrm rot="0">
              <a:off x="2129385" y="-2859527"/>
              <a:ext cx="3911463" cy="391146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53" name="Rectangles"/>
            <p:cNvSpPr>
              <a:spLocks/>
            </p:cNvSpPr>
            <p:nvPr/>
          </p:nvSpPr>
          <p:spPr>
            <a:xfrm rot="0">
              <a:off x="2496084" y="-2676177"/>
              <a:ext cx="3178063" cy="336141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55" name="Rectangles"/>
          <p:cNvSpPr>
            <a:spLocks/>
          </p:cNvSpPr>
          <p:nvPr/>
        </p:nvSpPr>
        <p:spPr>
          <a:xfrm rot="0">
            <a:off x="3325185" y="1748910"/>
            <a:ext cx="11637630" cy="6578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5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700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 ADAPTIVE CONTROL MEETS MACHINE LEARNING</a:t>
            </a:r>
            <a:endParaRPr lang="zh-CN" altLang="en-US" sz="3700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sp>
        <p:nvSpPr>
          <p:cNvPr id="156" name="Rectangles"/>
          <p:cNvSpPr>
            <a:spLocks/>
          </p:cNvSpPr>
          <p:nvPr/>
        </p:nvSpPr>
        <p:spPr>
          <a:xfrm rot="0">
            <a:off x="491671" y="4125813"/>
            <a:ext cx="5667027" cy="9730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8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36" b="1" i="0" u="none" strike="noStrike" kern="1200" cap="none" spc="0" baseline="0">
                <a:solidFill>
                  <a:srgbClr val="000000"/>
                </a:solidFill>
                <a:latin typeface="Open Sans Bold" pitchFamily="0" charset="0"/>
                <a:ea typeface="Open Sans Bold" pitchFamily="0" charset="0"/>
                <a:cs typeface="Open Sans Bold" pitchFamily="0" charset="0"/>
                <a:sym typeface="Open Sans Bold" pitchFamily="0" charset="0"/>
              </a:rPr>
              <a:t>Machine learning enhances adaptive control when:</a:t>
            </a:r>
            <a:endParaRPr lang="zh-CN" altLang="en-US" sz="2736" b="1" i="0" u="none" strike="noStrike" kern="1200" cap="none" spc="0" baseline="0">
              <a:solidFill>
                <a:srgbClr val="000000"/>
              </a:solidFill>
              <a:latin typeface="Open Sans Bold" pitchFamily="0" charset="0"/>
              <a:ea typeface="Open Sans Bold" pitchFamily="0" charset="0"/>
              <a:cs typeface="Open Sans Bold" pitchFamily="0" charset="0"/>
              <a:sym typeface="Open Sans Bold" pitchFamily="0" charset="0"/>
            </a:endParaRPr>
          </a:p>
        </p:txBody>
      </p:sp>
      <p:sp>
        <p:nvSpPr>
          <p:cNvPr id="157" name="Rectangles"/>
          <p:cNvSpPr>
            <a:spLocks/>
          </p:cNvSpPr>
          <p:nvPr/>
        </p:nvSpPr>
        <p:spPr>
          <a:xfrm rot="0">
            <a:off x="9972072" y="4340116"/>
            <a:ext cx="2450368" cy="5397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36" b="1" i="0" u="none" strike="noStrike" kern="1200" cap="none" spc="0" baseline="0">
                <a:solidFill>
                  <a:srgbClr val="000000"/>
                </a:solidFill>
                <a:latin typeface="Open Sans Bold" pitchFamily="0" charset="0"/>
                <a:ea typeface="Open Sans Bold" pitchFamily="0" charset="0"/>
                <a:cs typeface="Open Sans Bold" pitchFamily="0" charset="0"/>
                <a:sym typeface="Open Sans Bold" pitchFamily="0" charset="0"/>
              </a:rPr>
              <a:t>ML</a:t>
            </a:r>
            <a:r>
              <a:rPr lang="en-US" altLang="zh-CN" sz="3036" b="1" i="0" u="none" strike="noStrike" kern="1200" cap="none" spc="0" baseline="0">
                <a:solidFill>
                  <a:srgbClr val="000000"/>
                </a:solidFill>
                <a:latin typeface="Open Sans Bold" pitchFamily="0" charset="0"/>
                <a:ea typeface="Open Sans Bold" pitchFamily="0" charset="0"/>
                <a:cs typeface="Open Sans Bold" pitchFamily="0" charset="0"/>
                <a:sym typeface="Open Sans Bold" pitchFamily="0" charset="0"/>
              </a:rPr>
              <a:t> provides:</a:t>
            </a:r>
            <a:endParaRPr lang="zh-CN" altLang="en-US" sz="3036" b="1" i="0" u="none" strike="noStrike" kern="1200" cap="none" spc="0" baseline="0">
              <a:solidFill>
                <a:srgbClr val="000000"/>
              </a:solidFill>
              <a:latin typeface="Open Sans Bold" pitchFamily="0" charset="0"/>
              <a:ea typeface="Open Sans Bold" pitchFamily="0" charset="0"/>
              <a:cs typeface="Open Sans Bold" pitchFamily="0" charset="0"/>
              <a:sym typeface="Open Sans Bold" pitchFamily="0" charset="0"/>
            </a:endParaRPr>
          </a:p>
        </p:txBody>
      </p:sp>
      <p:sp>
        <p:nvSpPr>
          <p:cNvPr id="158" name="Rectangles"/>
          <p:cNvSpPr>
            <a:spLocks/>
          </p:cNvSpPr>
          <p:nvPr/>
        </p:nvSpPr>
        <p:spPr>
          <a:xfrm rot="0">
            <a:off x="916710" y="5404193"/>
            <a:ext cx="8227290" cy="227209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lvl="1" marL="603504" indent="-301752" algn="l">
              <a:lnSpc>
                <a:spcPts val="489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Dynamics are partially unknown</a:t>
            </a:r>
            <a:endParaRPr lang="en-US" altLang="zh-CN" sz="27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3504" indent="-301752" algn="l">
              <a:lnSpc>
                <a:spcPts val="489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Data distribution is non-stationary</a:t>
            </a:r>
            <a:endParaRPr lang="en-US" altLang="zh-CN" sz="27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3504" indent="-301752" algn="l">
              <a:lnSpc>
                <a:spcPts val="489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Environment requires continual adaptation</a:t>
            </a:r>
            <a:endParaRPr lang="en-US" altLang="zh-CN" sz="27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3504" indent="-301752" algn="l">
              <a:lnSpc>
                <a:spcPts val="489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Model complexity exceeds analytical modeling</a:t>
            </a:r>
            <a:endParaRPr lang="zh-CN" altLang="en-US" sz="27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  <p:sp>
        <p:nvSpPr>
          <p:cNvPr id="159" name="Rectangles"/>
          <p:cNvSpPr>
            <a:spLocks/>
          </p:cNvSpPr>
          <p:nvPr/>
        </p:nvSpPr>
        <p:spPr>
          <a:xfrm rot="0">
            <a:off x="9483926" y="5404193"/>
            <a:ext cx="8227290" cy="227209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lvl="1" marL="603504" indent="-301752" algn="l">
              <a:lnSpc>
                <a:spcPts val="489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Universal function approximation (NN, GP)</a:t>
            </a:r>
            <a:endParaRPr lang="en-US" altLang="zh-CN" sz="27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3504" indent="-301752" algn="l">
              <a:lnSpc>
                <a:spcPts val="489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Online optimization</a:t>
            </a:r>
            <a:endParaRPr lang="en-US" altLang="zh-CN" sz="27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3504" indent="-301752" algn="l">
              <a:lnSpc>
                <a:spcPts val="489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Long-term adaptation (RL)</a:t>
            </a:r>
            <a:endParaRPr lang="en-US" altLang="zh-CN" sz="27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3504" indent="-301752" algn="l">
              <a:lnSpc>
                <a:spcPts val="489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Uncertainty quantification (Bayesian methods)</a:t>
            </a:r>
            <a:endParaRPr lang="zh-CN" altLang="en-US" sz="27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481487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曲线"/>
          <p:cNvSpPr>
            <a:spLocks/>
          </p:cNvSpPr>
          <p:nvPr/>
        </p:nvSpPr>
        <p:spPr>
          <a:xfrm rot="0">
            <a:off x="-2057400" y="-1258963"/>
            <a:ext cx="4114800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61" name="曲线"/>
          <p:cNvSpPr>
            <a:spLocks/>
          </p:cNvSpPr>
          <p:nvPr/>
        </p:nvSpPr>
        <p:spPr>
          <a:xfrm rot="0">
            <a:off x="-1702233" y="-903795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62" name="曲线"/>
          <p:cNvSpPr>
            <a:spLocks/>
          </p:cNvSpPr>
          <p:nvPr/>
        </p:nvSpPr>
        <p:spPr>
          <a:xfrm rot="0">
            <a:off x="16230600" y="7200900"/>
            <a:ext cx="4114798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63" name="曲线"/>
          <p:cNvSpPr>
            <a:spLocks/>
          </p:cNvSpPr>
          <p:nvPr/>
        </p:nvSpPr>
        <p:spPr>
          <a:xfrm rot="0">
            <a:off x="16585766" y="7556066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166" name="Combination"/>
          <p:cNvGrpSpPr>
            <a:grpSpLocks/>
          </p:cNvGrpSpPr>
          <p:nvPr/>
        </p:nvGrpSpPr>
        <p:grpSpPr>
          <a:xfrm>
            <a:off x="12319137" y="9258300"/>
            <a:ext cx="3911463" cy="3911462"/>
            <a:chOff x="12319137" y="9258300"/>
            <a:chExt cx="3911463" cy="3911462"/>
          </a:xfrm>
        </p:grpSpPr>
        <p:sp>
          <p:nvSpPr>
            <p:cNvPr id="164" name="曲线"/>
            <p:cNvSpPr>
              <a:spLocks/>
            </p:cNvSpPr>
            <p:nvPr/>
          </p:nvSpPr>
          <p:spPr>
            <a:xfrm rot="0">
              <a:off x="12319137" y="9258300"/>
              <a:ext cx="3911463" cy="391146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65" name="Rectangles"/>
            <p:cNvSpPr>
              <a:spLocks/>
            </p:cNvSpPr>
            <p:nvPr/>
          </p:nvSpPr>
          <p:spPr>
            <a:xfrm rot="0">
              <a:off x="12685838" y="9441650"/>
              <a:ext cx="3178063" cy="336141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67" name="曲线"/>
          <p:cNvSpPr>
            <a:spLocks/>
          </p:cNvSpPr>
          <p:nvPr/>
        </p:nvSpPr>
        <p:spPr>
          <a:xfrm rot="0">
            <a:off x="16998732" y="7969033"/>
            <a:ext cx="2578532" cy="2578532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68" name="曲线"/>
          <p:cNvSpPr>
            <a:spLocks/>
          </p:cNvSpPr>
          <p:nvPr/>
        </p:nvSpPr>
        <p:spPr>
          <a:xfrm rot="0">
            <a:off x="-1289267" y="-490829"/>
            <a:ext cx="2578533" cy="257853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171" name="Combination"/>
          <p:cNvGrpSpPr>
            <a:grpSpLocks/>
          </p:cNvGrpSpPr>
          <p:nvPr/>
        </p:nvGrpSpPr>
        <p:grpSpPr>
          <a:xfrm>
            <a:off x="2129385" y="-2859527"/>
            <a:ext cx="3911463" cy="3911463"/>
            <a:chOff x="2129385" y="-2859527"/>
            <a:chExt cx="3911463" cy="3911463"/>
          </a:xfrm>
        </p:grpSpPr>
        <p:sp>
          <p:nvSpPr>
            <p:cNvPr id="169" name="曲线"/>
            <p:cNvSpPr>
              <a:spLocks/>
            </p:cNvSpPr>
            <p:nvPr/>
          </p:nvSpPr>
          <p:spPr>
            <a:xfrm rot="0">
              <a:off x="2129385" y="-2859527"/>
              <a:ext cx="3911463" cy="391146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70" name="Rectangles"/>
            <p:cNvSpPr>
              <a:spLocks/>
            </p:cNvSpPr>
            <p:nvPr/>
          </p:nvSpPr>
          <p:spPr>
            <a:xfrm rot="0">
              <a:off x="2496084" y="-2676177"/>
              <a:ext cx="3178063" cy="336141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grpSp>
        <p:nvGrpSpPr>
          <p:cNvPr id="174" name="Combination"/>
          <p:cNvGrpSpPr>
            <a:grpSpLocks/>
          </p:cNvGrpSpPr>
          <p:nvPr/>
        </p:nvGrpSpPr>
        <p:grpSpPr>
          <a:xfrm>
            <a:off x="4465350" y="2216949"/>
            <a:ext cx="8776013" cy="1775790"/>
            <a:chOff x="4465350" y="2216949"/>
            <a:chExt cx="8776013" cy="1775790"/>
          </a:xfrm>
        </p:grpSpPr>
        <p:sp>
          <p:nvSpPr>
            <p:cNvPr id="172" name="曲线"/>
            <p:cNvSpPr>
              <a:spLocks/>
            </p:cNvSpPr>
            <p:nvPr/>
          </p:nvSpPr>
          <p:spPr>
            <a:xfrm rot="0">
              <a:off x="4465350" y="2305467"/>
              <a:ext cx="8776013" cy="168727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57" y="0"/>
                  </a:moveTo>
                  <a:lnTo>
                    <a:pt x="21342" y="0"/>
                  </a:lnTo>
                  <a:cubicBezTo>
                    <a:pt x="21484" y="0"/>
                    <a:pt x="21600" y="599"/>
                    <a:pt x="21600" y="1338"/>
                  </a:cubicBezTo>
                  <a:lnTo>
                    <a:pt x="21600" y="20261"/>
                  </a:lnTo>
                  <a:cubicBezTo>
                    <a:pt x="21600" y="21000"/>
                    <a:pt x="21484" y="21600"/>
                    <a:pt x="21342" y="21600"/>
                  </a:cubicBezTo>
                  <a:lnTo>
                    <a:pt x="257" y="21600"/>
                  </a:lnTo>
                  <a:cubicBezTo>
                    <a:pt x="115" y="21600"/>
                    <a:pt x="0" y="21000"/>
                    <a:pt x="0" y="20261"/>
                  </a:cubicBezTo>
                  <a:lnTo>
                    <a:pt x="0" y="1338"/>
                  </a:lnTo>
                  <a:cubicBezTo>
                    <a:pt x="0" y="599"/>
                    <a:pt x="115" y="0"/>
                    <a:pt x="25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3" name="Rectangles"/>
            <p:cNvSpPr>
              <a:spLocks/>
            </p:cNvSpPr>
            <p:nvPr/>
          </p:nvSpPr>
          <p:spPr>
            <a:xfrm rot="0">
              <a:off x="4465350" y="2216949"/>
              <a:ext cx="8776013" cy="177579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75" name="Rectangles"/>
          <p:cNvSpPr>
            <a:spLocks/>
          </p:cNvSpPr>
          <p:nvPr/>
        </p:nvSpPr>
        <p:spPr>
          <a:xfrm rot="0">
            <a:off x="4855351" y="2387602"/>
            <a:ext cx="7934015" cy="17812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4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913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Online Learning</a:t>
            </a:r>
            <a:endParaRPr lang="en-US" altLang="zh-CN" sz="2913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564134" indent="-282067" algn="just">
              <a:lnSpc>
                <a:spcPts val="365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12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Gradient descent updates in real time</a:t>
            </a:r>
            <a:endParaRPr lang="en-US" altLang="zh-CN" sz="2612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564134" indent="-282067" algn="just">
              <a:lnSpc>
                <a:spcPts val="365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12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Used for continuous parameter adaptation</a:t>
            </a:r>
            <a:endParaRPr lang="en-US" altLang="zh-CN" sz="2612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marL="0" indent="0" algn="just">
              <a:lnSpc>
                <a:spcPts val="365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612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</p:txBody>
      </p:sp>
      <p:grpSp>
        <p:nvGrpSpPr>
          <p:cNvPr id="178" name="Combination"/>
          <p:cNvGrpSpPr>
            <a:grpSpLocks/>
          </p:cNvGrpSpPr>
          <p:nvPr/>
        </p:nvGrpSpPr>
        <p:grpSpPr>
          <a:xfrm>
            <a:off x="2057400" y="2207167"/>
            <a:ext cx="2196241" cy="1775790"/>
            <a:chOff x="2057400" y="2207167"/>
            <a:chExt cx="2196241" cy="1775790"/>
          </a:xfrm>
        </p:grpSpPr>
        <p:sp>
          <p:nvSpPr>
            <p:cNvPr id="176" name="曲线"/>
            <p:cNvSpPr>
              <a:spLocks/>
            </p:cNvSpPr>
            <p:nvPr/>
          </p:nvSpPr>
          <p:spPr>
            <a:xfrm rot="0">
              <a:off x="2057400" y="2295685"/>
              <a:ext cx="2196241" cy="168727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4107" y="0"/>
                  </a:moveTo>
                  <a:lnTo>
                    <a:pt x="17492" y="0"/>
                  </a:lnTo>
                  <a:cubicBezTo>
                    <a:pt x="18581" y="0"/>
                    <a:pt x="19626" y="563"/>
                    <a:pt x="20396" y="1566"/>
                  </a:cubicBezTo>
                  <a:cubicBezTo>
                    <a:pt x="21167" y="2568"/>
                    <a:pt x="21600" y="3928"/>
                    <a:pt x="21600" y="5347"/>
                  </a:cubicBezTo>
                  <a:lnTo>
                    <a:pt x="21600" y="16252"/>
                  </a:lnTo>
                  <a:cubicBezTo>
                    <a:pt x="21600" y="17671"/>
                    <a:pt x="21167" y="19031"/>
                    <a:pt x="20396" y="20033"/>
                  </a:cubicBezTo>
                  <a:cubicBezTo>
                    <a:pt x="19626" y="21036"/>
                    <a:pt x="18581" y="21600"/>
                    <a:pt x="17492" y="21600"/>
                  </a:cubicBezTo>
                  <a:lnTo>
                    <a:pt x="4107" y="21600"/>
                  </a:lnTo>
                  <a:cubicBezTo>
                    <a:pt x="3018" y="21600"/>
                    <a:pt x="1973" y="21036"/>
                    <a:pt x="1203" y="20033"/>
                  </a:cubicBezTo>
                  <a:cubicBezTo>
                    <a:pt x="432" y="19031"/>
                    <a:pt x="0" y="17671"/>
                    <a:pt x="0" y="16252"/>
                  </a:cubicBezTo>
                  <a:lnTo>
                    <a:pt x="0" y="5347"/>
                  </a:lnTo>
                  <a:cubicBezTo>
                    <a:pt x="0" y="3928"/>
                    <a:pt x="432" y="2568"/>
                    <a:pt x="1203" y="1566"/>
                  </a:cubicBezTo>
                  <a:cubicBezTo>
                    <a:pt x="1973" y="563"/>
                    <a:pt x="3018" y="0"/>
                    <a:pt x="41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7" name="Rectangles"/>
            <p:cNvSpPr>
              <a:spLocks/>
            </p:cNvSpPr>
            <p:nvPr/>
          </p:nvSpPr>
          <p:spPr>
            <a:xfrm rot="0">
              <a:off x="2057400" y="2207167"/>
              <a:ext cx="2196241" cy="177579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79" name="Rectangles"/>
          <p:cNvSpPr>
            <a:spLocks/>
          </p:cNvSpPr>
          <p:nvPr/>
        </p:nvSpPr>
        <p:spPr>
          <a:xfrm rot="0">
            <a:off x="2475134" y="2624689"/>
            <a:ext cx="1360773" cy="97891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77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507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1</a:t>
            </a:r>
            <a:endParaRPr lang="zh-CN" altLang="en-US" sz="5507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grpSp>
        <p:nvGrpSpPr>
          <p:cNvPr id="182" name="Combination"/>
          <p:cNvGrpSpPr>
            <a:grpSpLocks/>
          </p:cNvGrpSpPr>
          <p:nvPr/>
        </p:nvGrpSpPr>
        <p:grpSpPr>
          <a:xfrm>
            <a:off x="4465350" y="4129652"/>
            <a:ext cx="8776013" cy="1775791"/>
            <a:chOff x="4465350" y="4129652"/>
            <a:chExt cx="8776013" cy="1775791"/>
          </a:xfrm>
        </p:grpSpPr>
        <p:sp>
          <p:nvSpPr>
            <p:cNvPr id="180" name="曲线"/>
            <p:cNvSpPr>
              <a:spLocks/>
            </p:cNvSpPr>
            <p:nvPr/>
          </p:nvSpPr>
          <p:spPr>
            <a:xfrm rot="0">
              <a:off x="4465350" y="4218170"/>
              <a:ext cx="8776013" cy="16872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57" y="0"/>
                  </a:moveTo>
                  <a:lnTo>
                    <a:pt x="21342" y="0"/>
                  </a:lnTo>
                  <a:cubicBezTo>
                    <a:pt x="21484" y="0"/>
                    <a:pt x="21600" y="599"/>
                    <a:pt x="21600" y="1338"/>
                  </a:cubicBezTo>
                  <a:lnTo>
                    <a:pt x="21600" y="20261"/>
                  </a:lnTo>
                  <a:cubicBezTo>
                    <a:pt x="21600" y="21000"/>
                    <a:pt x="21484" y="21600"/>
                    <a:pt x="21342" y="21600"/>
                  </a:cubicBezTo>
                  <a:lnTo>
                    <a:pt x="257" y="21600"/>
                  </a:lnTo>
                  <a:cubicBezTo>
                    <a:pt x="115" y="21600"/>
                    <a:pt x="0" y="21000"/>
                    <a:pt x="0" y="20261"/>
                  </a:cubicBezTo>
                  <a:lnTo>
                    <a:pt x="0" y="1338"/>
                  </a:lnTo>
                  <a:cubicBezTo>
                    <a:pt x="0" y="599"/>
                    <a:pt x="115" y="0"/>
                    <a:pt x="25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1" name="Rectangles"/>
            <p:cNvSpPr>
              <a:spLocks/>
            </p:cNvSpPr>
            <p:nvPr/>
          </p:nvSpPr>
          <p:spPr>
            <a:xfrm rot="0">
              <a:off x="4465350" y="4129652"/>
              <a:ext cx="8776013" cy="1775791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83" name="Rectangles"/>
          <p:cNvSpPr>
            <a:spLocks/>
          </p:cNvSpPr>
          <p:nvPr/>
        </p:nvSpPr>
        <p:spPr>
          <a:xfrm rot="0">
            <a:off x="4855351" y="4410489"/>
            <a:ext cx="7934015" cy="173614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39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13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Neural Networks for System Identification</a:t>
            </a:r>
            <a:endParaRPr lang="en-US" altLang="zh-CN" sz="2813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542544" indent="-271272" algn="just">
              <a:lnSpc>
                <a:spcPts val="351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512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Learn unknown dynamics</a:t>
            </a:r>
            <a:endParaRPr lang="en-US" altLang="zh-CN" sz="2512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542544" indent="-271272" algn="just">
              <a:lnSpc>
                <a:spcPts val="351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512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Replace physical models</a:t>
            </a:r>
            <a:endParaRPr lang="en-US" altLang="zh-CN" sz="2512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marL="0" indent="0" algn="just">
              <a:lnSpc>
                <a:spcPts val="351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512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</p:txBody>
      </p:sp>
      <p:grpSp>
        <p:nvGrpSpPr>
          <p:cNvPr id="186" name="Combination"/>
          <p:cNvGrpSpPr>
            <a:grpSpLocks/>
          </p:cNvGrpSpPr>
          <p:nvPr/>
        </p:nvGrpSpPr>
        <p:grpSpPr>
          <a:xfrm>
            <a:off x="2057400" y="4119870"/>
            <a:ext cx="2196241" cy="1775790"/>
            <a:chOff x="2057400" y="4119870"/>
            <a:chExt cx="2196241" cy="1775790"/>
          </a:xfrm>
        </p:grpSpPr>
        <p:sp>
          <p:nvSpPr>
            <p:cNvPr id="184" name="曲线"/>
            <p:cNvSpPr>
              <a:spLocks/>
            </p:cNvSpPr>
            <p:nvPr/>
          </p:nvSpPr>
          <p:spPr>
            <a:xfrm rot="0">
              <a:off x="2057400" y="4208388"/>
              <a:ext cx="2196241" cy="168727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4107" y="0"/>
                  </a:moveTo>
                  <a:lnTo>
                    <a:pt x="17492" y="0"/>
                  </a:lnTo>
                  <a:cubicBezTo>
                    <a:pt x="18581" y="0"/>
                    <a:pt x="19626" y="563"/>
                    <a:pt x="20396" y="1566"/>
                  </a:cubicBezTo>
                  <a:cubicBezTo>
                    <a:pt x="21167" y="2568"/>
                    <a:pt x="21600" y="3928"/>
                    <a:pt x="21600" y="5347"/>
                  </a:cubicBezTo>
                  <a:lnTo>
                    <a:pt x="21600" y="16252"/>
                  </a:lnTo>
                  <a:cubicBezTo>
                    <a:pt x="21600" y="17671"/>
                    <a:pt x="21167" y="19031"/>
                    <a:pt x="20396" y="20033"/>
                  </a:cubicBezTo>
                  <a:cubicBezTo>
                    <a:pt x="19626" y="21036"/>
                    <a:pt x="18581" y="21600"/>
                    <a:pt x="17492" y="21600"/>
                  </a:cubicBezTo>
                  <a:lnTo>
                    <a:pt x="4107" y="21600"/>
                  </a:lnTo>
                  <a:cubicBezTo>
                    <a:pt x="3018" y="21600"/>
                    <a:pt x="1973" y="21036"/>
                    <a:pt x="1203" y="20033"/>
                  </a:cubicBezTo>
                  <a:cubicBezTo>
                    <a:pt x="432" y="19031"/>
                    <a:pt x="0" y="17671"/>
                    <a:pt x="0" y="16252"/>
                  </a:cubicBezTo>
                  <a:lnTo>
                    <a:pt x="0" y="5347"/>
                  </a:lnTo>
                  <a:cubicBezTo>
                    <a:pt x="0" y="3928"/>
                    <a:pt x="432" y="2568"/>
                    <a:pt x="1203" y="1566"/>
                  </a:cubicBezTo>
                  <a:cubicBezTo>
                    <a:pt x="1973" y="563"/>
                    <a:pt x="3018" y="0"/>
                    <a:pt x="41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5" name="Rectangles"/>
            <p:cNvSpPr>
              <a:spLocks/>
            </p:cNvSpPr>
            <p:nvPr/>
          </p:nvSpPr>
          <p:spPr>
            <a:xfrm rot="0">
              <a:off x="2057400" y="4119870"/>
              <a:ext cx="2196241" cy="177579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87" name="Rectangles"/>
          <p:cNvSpPr>
            <a:spLocks/>
          </p:cNvSpPr>
          <p:nvPr/>
        </p:nvSpPr>
        <p:spPr>
          <a:xfrm rot="0">
            <a:off x="2475134" y="4537393"/>
            <a:ext cx="1360773" cy="97891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77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507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2</a:t>
            </a:r>
            <a:endParaRPr lang="zh-CN" altLang="en-US" sz="5507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grpSp>
        <p:nvGrpSpPr>
          <p:cNvPr id="190" name="Combination"/>
          <p:cNvGrpSpPr>
            <a:grpSpLocks/>
          </p:cNvGrpSpPr>
          <p:nvPr/>
        </p:nvGrpSpPr>
        <p:grpSpPr>
          <a:xfrm>
            <a:off x="4465350" y="6039048"/>
            <a:ext cx="8776013" cy="1775790"/>
            <a:chOff x="4465350" y="6039048"/>
            <a:chExt cx="8776013" cy="1775790"/>
          </a:xfrm>
        </p:grpSpPr>
        <p:sp>
          <p:nvSpPr>
            <p:cNvPr id="188" name="曲线"/>
            <p:cNvSpPr>
              <a:spLocks/>
            </p:cNvSpPr>
            <p:nvPr/>
          </p:nvSpPr>
          <p:spPr>
            <a:xfrm rot="0">
              <a:off x="4465350" y="6127565"/>
              <a:ext cx="8776013" cy="16872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57" y="0"/>
                  </a:moveTo>
                  <a:lnTo>
                    <a:pt x="21342" y="0"/>
                  </a:lnTo>
                  <a:cubicBezTo>
                    <a:pt x="21484" y="0"/>
                    <a:pt x="21600" y="599"/>
                    <a:pt x="21600" y="1338"/>
                  </a:cubicBezTo>
                  <a:lnTo>
                    <a:pt x="21600" y="20261"/>
                  </a:lnTo>
                  <a:cubicBezTo>
                    <a:pt x="21600" y="21000"/>
                    <a:pt x="21484" y="21600"/>
                    <a:pt x="21342" y="21600"/>
                  </a:cubicBezTo>
                  <a:lnTo>
                    <a:pt x="257" y="21600"/>
                  </a:lnTo>
                  <a:cubicBezTo>
                    <a:pt x="115" y="21600"/>
                    <a:pt x="0" y="21000"/>
                    <a:pt x="0" y="20261"/>
                  </a:cubicBezTo>
                  <a:lnTo>
                    <a:pt x="0" y="1338"/>
                  </a:lnTo>
                  <a:cubicBezTo>
                    <a:pt x="0" y="599"/>
                    <a:pt x="115" y="0"/>
                    <a:pt x="25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9" name="Rectangles"/>
            <p:cNvSpPr>
              <a:spLocks/>
            </p:cNvSpPr>
            <p:nvPr/>
          </p:nvSpPr>
          <p:spPr>
            <a:xfrm rot="0">
              <a:off x="4465350" y="6039048"/>
              <a:ext cx="8776013" cy="177579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91" name="Rectangles"/>
          <p:cNvSpPr>
            <a:spLocks/>
          </p:cNvSpPr>
          <p:nvPr/>
        </p:nvSpPr>
        <p:spPr>
          <a:xfrm rot="0">
            <a:off x="4855351" y="6242002"/>
            <a:ext cx="7934015" cy="173614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39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13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Reinforcement Learning (RL)</a:t>
            </a:r>
            <a:endParaRPr lang="en-US" altLang="zh-CN" sz="2813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542544" indent="-271272" algn="just">
              <a:lnSpc>
                <a:spcPts val="351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512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Learns optimal control policies</a:t>
            </a:r>
            <a:endParaRPr lang="en-US" altLang="zh-CN" sz="2512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542544" indent="-271272" algn="just">
              <a:lnSpc>
                <a:spcPts val="351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512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Popular algorithms: DDPG, PPO, SAC, TD3</a:t>
            </a:r>
            <a:endParaRPr lang="en-US" altLang="zh-CN" sz="2512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marL="0" indent="0" algn="just">
              <a:lnSpc>
                <a:spcPts val="351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512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</p:txBody>
      </p:sp>
      <p:grpSp>
        <p:nvGrpSpPr>
          <p:cNvPr id="194" name="Combination"/>
          <p:cNvGrpSpPr>
            <a:grpSpLocks/>
          </p:cNvGrpSpPr>
          <p:nvPr/>
        </p:nvGrpSpPr>
        <p:grpSpPr>
          <a:xfrm>
            <a:off x="2057400" y="6029266"/>
            <a:ext cx="2196241" cy="1775790"/>
            <a:chOff x="2057400" y="6029266"/>
            <a:chExt cx="2196241" cy="1775790"/>
          </a:xfrm>
        </p:grpSpPr>
        <p:sp>
          <p:nvSpPr>
            <p:cNvPr id="192" name="曲线"/>
            <p:cNvSpPr>
              <a:spLocks/>
            </p:cNvSpPr>
            <p:nvPr/>
          </p:nvSpPr>
          <p:spPr>
            <a:xfrm rot="0">
              <a:off x="2057400" y="6117784"/>
              <a:ext cx="2196241" cy="16872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4107" y="0"/>
                  </a:moveTo>
                  <a:lnTo>
                    <a:pt x="17492" y="0"/>
                  </a:lnTo>
                  <a:cubicBezTo>
                    <a:pt x="18581" y="0"/>
                    <a:pt x="19626" y="563"/>
                    <a:pt x="20396" y="1566"/>
                  </a:cubicBezTo>
                  <a:cubicBezTo>
                    <a:pt x="21167" y="2568"/>
                    <a:pt x="21600" y="3928"/>
                    <a:pt x="21600" y="5347"/>
                  </a:cubicBezTo>
                  <a:lnTo>
                    <a:pt x="21600" y="16252"/>
                  </a:lnTo>
                  <a:cubicBezTo>
                    <a:pt x="21600" y="17671"/>
                    <a:pt x="21167" y="19031"/>
                    <a:pt x="20396" y="20033"/>
                  </a:cubicBezTo>
                  <a:cubicBezTo>
                    <a:pt x="19626" y="21036"/>
                    <a:pt x="18581" y="21600"/>
                    <a:pt x="17492" y="21600"/>
                  </a:cubicBezTo>
                  <a:lnTo>
                    <a:pt x="4107" y="21600"/>
                  </a:lnTo>
                  <a:cubicBezTo>
                    <a:pt x="3018" y="21600"/>
                    <a:pt x="1973" y="21036"/>
                    <a:pt x="1203" y="20033"/>
                  </a:cubicBezTo>
                  <a:cubicBezTo>
                    <a:pt x="432" y="19031"/>
                    <a:pt x="0" y="17671"/>
                    <a:pt x="0" y="16252"/>
                  </a:cubicBezTo>
                  <a:lnTo>
                    <a:pt x="0" y="5347"/>
                  </a:lnTo>
                  <a:cubicBezTo>
                    <a:pt x="0" y="3928"/>
                    <a:pt x="432" y="2568"/>
                    <a:pt x="1203" y="1566"/>
                  </a:cubicBezTo>
                  <a:cubicBezTo>
                    <a:pt x="1973" y="563"/>
                    <a:pt x="3018" y="0"/>
                    <a:pt x="41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3" name="Rectangles"/>
            <p:cNvSpPr>
              <a:spLocks/>
            </p:cNvSpPr>
            <p:nvPr/>
          </p:nvSpPr>
          <p:spPr>
            <a:xfrm rot="0">
              <a:off x="2057400" y="6029266"/>
              <a:ext cx="2196241" cy="177579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95" name="Rectangles"/>
          <p:cNvSpPr>
            <a:spLocks/>
          </p:cNvSpPr>
          <p:nvPr/>
        </p:nvSpPr>
        <p:spPr>
          <a:xfrm rot="0">
            <a:off x="2475134" y="6446789"/>
            <a:ext cx="1360773" cy="97891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77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507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3</a:t>
            </a:r>
            <a:endParaRPr lang="zh-CN" altLang="en-US" sz="5507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grpSp>
        <p:nvGrpSpPr>
          <p:cNvPr id="198" name="Combination"/>
          <p:cNvGrpSpPr>
            <a:grpSpLocks/>
          </p:cNvGrpSpPr>
          <p:nvPr/>
        </p:nvGrpSpPr>
        <p:grpSpPr>
          <a:xfrm>
            <a:off x="4465350" y="7951751"/>
            <a:ext cx="8776013" cy="1775790"/>
            <a:chOff x="4465350" y="7951751"/>
            <a:chExt cx="8776013" cy="1775790"/>
          </a:xfrm>
        </p:grpSpPr>
        <p:sp>
          <p:nvSpPr>
            <p:cNvPr id="196" name="曲线"/>
            <p:cNvSpPr>
              <a:spLocks/>
            </p:cNvSpPr>
            <p:nvPr/>
          </p:nvSpPr>
          <p:spPr>
            <a:xfrm rot="0">
              <a:off x="4465350" y="8040269"/>
              <a:ext cx="8776013" cy="16872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57" y="0"/>
                  </a:moveTo>
                  <a:lnTo>
                    <a:pt x="21342" y="0"/>
                  </a:lnTo>
                  <a:cubicBezTo>
                    <a:pt x="21484" y="0"/>
                    <a:pt x="21600" y="599"/>
                    <a:pt x="21600" y="1338"/>
                  </a:cubicBezTo>
                  <a:lnTo>
                    <a:pt x="21600" y="20261"/>
                  </a:lnTo>
                  <a:cubicBezTo>
                    <a:pt x="21600" y="21000"/>
                    <a:pt x="21484" y="21600"/>
                    <a:pt x="21342" y="21600"/>
                  </a:cubicBezTo>
                  <a:lnTo>
                    <a:pt x="257" y="21600"/>
                  </a:lnTo>
                  <a:cubicBezTo>
                    <a:pt x="115" y="21600"/>
                    <a:pt x="0" y="21000"/>
                    <a:pt x="0" y="20261"/>
                  </a:cubicBezTo>
                  <a:lnTo>
                    <a:pt x="0" y="1338"/>
                  </a:lnTo>
                  <a:cubicBezTo>
                    <a:pt x="0" y="599"/>
                    <a:pt x="115" y="0"/>
                    <a:pt x="25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7" name="Rectangles"/>
            <p:cNvSpPr>
              <a:spLocks/>
            </p:cNvSpPr>
            <p:nvPr/>
          </p:nvSpPr>
          <p:spPr>
            <a:xfrm rot="0">
              <a:off x="4465350" y="7951751"/>
              <a:ext cx="8776013" cy="177579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199" name="Rectangles"/>
          <p:cNvSpPr>
            <a:spLocks/>
          </p:cNvSpPr>
          <p:nvPr/>
        </p:nvSpPr>
        <p:spPr>
          <a:xfrm rot="0">
            <a:off x="4855351" y="8242112"/>
            <a:ext cx="7934015" cy="16599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37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13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Gaussian Processes</a:t>
            </a:r>
            <a:endParaRPr lang="en-US" altLang="zh-CN" sz="2713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520954" indent="-260477" algn="just">
              <a:lnSpc>
                <a:spcPts val="337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12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Model uncertainty explicitly</a:t>
            </a:r>
            <a:endParaRPr lang="en-US" altLang="zh-CN" sz="2412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520954" indent="-260477" algn="just">
              <a:lnSpc>
                <a:spcPts val="3378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12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Used in safe robotics</a:t>
            </a:r>
            <a:endParaRPr lang="en-US" altLang="zh-CN" sz="2412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marL="0" indent="0" algn="just">
              <a:lnSpc>
                <a:spcPts val="337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412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</p:txBody>
      </p:sp>
      <p:grpSp>
        <p:nvGrpSpPr>
          <p:cNvPr id="202" name="Combination"/>
          <p:cNvGrpSpPr>
            <a:grpSpLocks/>
          </p:cNvGrpSpPr>
          <p:nvPr/>
        </p:nvGrpSpPr>
        <p:grpSpPr>
          <a:xfrm>
            <a:off x="2057400" y="7941969"/>
            <a:ext cx="2196241" cy="1775791"/>
            <a:chOff x="2057400" y="7941969"/>
            <a:chExt cx="2196241" cy="1775791"/>
          </a:xfrm>
        </p:grpSpPr>
        <p:sp>
          <p:nvSpPr>
            <p:cNvPr id="200" name="曲线"/>
            <p:cNvSpPr>
              <a:spLocks/>
            </p:cNvSpPr>
            <p:nvPr/>
          </p:nvSpPr>
          <p:spPr>
            <a:xfrm rot="0">
              <a:off x="2057400" y="8030487"/>
              <a:ext cx="2196241" cy="16872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4107" y="0"/>
                  </a:moveTo>
                  <a:lnTo>
                    <a:pt x="17492" y="0"/>
                  </a:lnTo>
                  <a:cubicBezTo>
                    <a:pt x="18581" y="0"/>
                    <a:pt x="19626" y="563"/>
                    <a:pt x="20396" y="1566"/>
                  </a:cubicBezTo>
                  <a:cubicBezTo>
                    <a:pt x="21167" y="2568"/>
                    <a:pt x="21600" y="3928"/>
                    <a:pt x="21600" y="5347"/>
                  </a:cubicBezTo>
                  <a:lnTo>
                    <a:pt x="21600" y="16252"/>
                  </a:lnTo>
                  <a:cubicBezTo>
                    <a:pt x="21600" y="17671"/>
                    <a:pt x="21167" y="19031"/>
                    <a:pt x="20396" y="20033"/>
                  </a:cubicBezTo>
                  <a:cubicBezTo>
                    <a:pt x="19626" y="21036"/>
                    <a:pt x="18581" y="21600"/>
                    <a:pt x="17492" y="21600"/>
                  </a:cubicBezTo>
                  <a:lnTo>
                    <a:pt x="4107" y="21600"/>
                  </a:lnTo>
                  <a:cubicBezTo>
                    <a:pt x="3018" y="21600"/>
                    <a:pt x="1973" y="21036"/>
                    <a:pt x="1203" y="20033"/>
                  </a:cubicBezTo>
                  <a:cubicBezTo>
                    <a:pt x="432" y="19031"/>
                    <a:pt x="0" y="17671"/>
                    <a:pt x="0" y="16252"/>
                  </a:cubicBezTo>
                  <a:lnTo>
                    <a:pt x="0" y="5347"/>
                  </a:lnTo>
                  <a:cubicBezTo>
                    <a:pt x="0" y="3928"/>
                    <a:pt x="432" y="2568"/>
                    <a:pt x="1203" y="1566"/>
                  </a:cubicBezTo>
                  <a:cubicBezTo>
                    <a:pt x="1973" y="563"/>
                    <a:pt x="3018" y="0"/>
                    <a:pt x="41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01" name="Rectangles"/>
            <p:cNvSpPr>
              <a:spLocks/>
            </p:cNvSpPr>
            <p:nvPr/>
          </p:nvSpPr>
          <p:spPr>
            <a:xfrm rot="0">
              <a:off x="2057400" y="7941969"/>
              <a:ext cx="2196241" cy="1775791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203" name="Rectangles"/>
          <p:cNvSpPr>
            <a:spLocks/>
          </p:cNvSpPr>
          <p:nvPr/>
        </p:nvSpPr>
        <p:spPr>
          <a:xfrm rot="0">
            <a:off x="2475134" y="8359492"/>
            <a:ext cx="1360773" cy="97891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77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507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4</a:t>
            </a:r>
            <a:endParaRPr lang="zh-CN" altLang="en-US" sz="5507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sp>
        <p:nvSpPr>
          <p:cNvPr id="204" name="Rectangles"/>
          <p:cNvSpPr>
            <a:spLocks/>
          </p:cNvSpPr>
          <p:nvPr/>
        </p:nvSpPr>
        <p:spPr>
          <a:xfrm rot="0">
            <a:off x="5505255" y="240966"/>
            <a:ext cx="9954674" cy="16355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64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599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ML TECHNIQUES USED IN ADAPTIVE CONTROL</a:t>
            </a:r>
            <a:endParaRPr lang="zh-CN" altLang="en-US" sz="4599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480126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曲线"/>
          <p:cNvSpPr>
            <a:spLocks/>
          </p:cNvSpPr>
          <p:nvPr/>
        </p:nvSpPr>
        <p:spPr>
          <a:xfrm rot="0">
            <a:off x="-2057400" y="-1258963"/>
            <a:ext cx="4114800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06" name="曲线"/>
          <p:cNvSpPr>
            <a:spLocks/>
          </p:cNvSpPr>
          <p:nvPr/>
        </p:nvSpPr>
        <p:spPr>
          <a:xfrm rot="0">
            <a:off x="-1702233" y="-903795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07" name="曲线"/>
          <p:cNvSpPr>
            <a:spLocks/>
          </p:cNvSpPr>
          <p:nvPr/>
        </p:nvSpPr>
        <p:spPr>
          <a:xfrm rot="0">
            <a:off x="16230600" y="7200900"/>
            <a:ext cx="4114798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08" name="曲线"/>
          <p:cNvSpPr>
            <a:spLocks/>
          </p:cNvSpPr>
          <p:nvPr/>
        </p:nvSpPr>
        <p:spPr>
          <a:xfrm rot="0">
            <a:off x="16585766" y="7556066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211" name="Combination"/>
          <p:cNvGrpSpPr>
            <a:grpSpLocks/>
          </p:cNvGrpSpPr>
          <p:nvPr/>
        </p:nvGrpSpPr>
        <p:grpSpPr>
          <a:xfrm>
            <a:off x="12319137" y="9258300"/>
            <a:ext cx="3911463" cy="3911462"/>
            <a:chOff x="12319137" y="9258300"/>
            <a:chExt cx="3911463" cy="3911462"/>
          </a:xfrm>
        </p:grpSpPr>
        <p:sp>
          <p:nvSpPr>
            <p:cNvPr id="209" name="曲线"/>
            <p:cNvSpPr>
              <a:spLocks/>
            </p:cNvSpPr>
            <p:nvPr/>
          </p:nvSpPr>
          <p:spPr>
            <a:xfrm rot="0">
              <a:off x="12319137" y="9258300"/>
              <a:ext cx="3911463" cy="391146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210" name="Rectangles"/>
            <p:cNvSpPr>
              <a:spLocks/>
            </p:cNvSpPr>
            <p:nvPr/>
          </p:nvSpPr>
          <p:spPr>
            <a:xfrm rot="0">
              <a:off x="12685838" y="9441650"/>
              <a:ext cx="3178063" cy="336141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212" name="曲线"/>
          <p:cNvSpPr>
            <a:spLocks/>
          </p:cNvSpPr>
          <p:nvPr/>
        </p:nvSpPr>
        <p:spPr>
          <a:xfrm rot="0">
            <a:off x="16998732" y="7969033"/>
            <a:ext cx="2578532" cy="2578532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13" name="曲线"/>
          <p:cNvSpPr>
            <a:spLocks/>
          </p:cNvSpPr>
          <p:nvPr/>
        </p:nvSpPr>
        <p:spPr>
          <a:xfrm rot="0">
            <a:off x="-1289267" y="-490829"/>
            <a:ext cx="2578533" cy="257853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216" name="Combination"/>
          <p:cNvGrpSpPr>
            <a:grpSpLocks/>
          </p:cNvGrpSpPr>
          <p:nvPr/>
        </p:nvGrpSpPr>
        <p:grpSpPr>
          <a:xfrm>
            <a:off x="2129385" y="-2859527"/>
            <a:ext cx="3911463" cy="3911463"/>
            <a:chOff x="2129385" y="-2859527"/>
            <a:chExt cx="3911463" cy="3911463"/>
          </a:xfrm>
        </p:grpSpPr>
        <p:sp>
          <p:nvSpPr>
            <p:cNvPr id="214" name="曲线"/>
            <p:cNvSpPr>
              <a:spLocks/>
            </p:cNvSpPr>
            <p:nvPr/>
          </p:nvSpPr>
          <p:spPr>
            <a:xfrm rot="0">
              <a:off x="2129385" y="-2859527"/>
              <a:ext cx="3911463" cy="391146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215" name="Rectangles"/>
            <p:cNvSpPr>
              <a:spLocks/>
            </p:cNvSpPr>
            <p:nvPr/>
          </p:nvSpPr>
          <p:spPr>
            <a:xfrm rot="0">
              <a:off x="2496084" y="-2676177"/>
              <a:ext cx="3178063" cy="336141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217" name="Rectangles"/>
          <p:cNvSpPr>
            <a:spLocks/>
          </p:cNvSpPr>
          <p:nvPr/>
        </p:nvSpPr>
        <p:spPr>
          <a:xfrm rot="0">
            <a:off x="5494542" y="430354"/>
            <a:ext cx="8546802" cy="149326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58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199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LEARNING-BASED ADAPTIVE CONTROL (LBAC)</a:t>
            </a:r>
            <a:endParaRPr lang="zh-CN" altLang="en-US" sz="4199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grpSp>
        <p:nvGrpSpPr>
          <p:cNvPr id="220" name="Combination"/>
          <p:cNvGrpSpPr>
            <a:grpSpLocks/>
          </p:cNvGrpSpPr>
          <p:nvPr/>
        </p:nvGrpSpPr>
        <p:grpSpPr>
          <a:xfrm>
            <a:off x="5197731" y="2401835"/>
            <a:ext cx="9983018" cy="2229120"/>
            <a:chOff x="5197731" y="2401835"/>
            <a:chExt cx="9983018" cy="2229120"/>
          </a:xfrm>
        </p:grpSpPr>
        <p:sp>
          <p:nvSpPr>
            <p:cNvPr id="218" name="曲线"/>
            <p:cNvSpPr>
              <a:spLocks/>
            </p:cNvSpPr>
            <p:nvPr/>
          </p:nvSpPr>
          <p:spPr>
            <a:xfrm rot="0">
              <a:off x="5197731" y="2512950"/>
              <a:ext cx="9983018" cy="2118006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49" y="0"/>
                  </a:moveTo>
                  <a:lnTo>
                    <a:pt x="21350" y="0"/>
                  </a:lnTo>
                  <a:cubicBezTo>
                    <a:pt x="21488" y="0"/>
                    <a:pt x="21600" y="526"/>
                    <a:pt x="21600" y="1176"/>
                  </a:cubicBezTo>
                  <a:lnTo>
                    <a:pt x="21600" y="20423"/>
                  </a:lnTo>
                  <a:cubicBezTo>
                    <a:pt x="21600" y="20735"/>
                    <a:pt x="21573" y="21034"/>
                    <a:pt x="21526" y="21255"/>
                  </a:cubicBezTo>
                  <a:cubicBezTo>
                    <a:pt x="21480" y="21476"/>
                    <a:pt x="21416" y="21600"/>
                    <a:pt x="21350" y="21600"/>
                  </a:cubicBezTo>
                  <a:lnTo>
                    <a:pt x="249" y="21600"/>
                  </a:lnTo>
                  <a:cubicBezTo>
                    <a:pt x="111" y="21600"/>
                    <a:pt x="0" y="21073"/>
                    <a:pt x="0" y="20423"/>
                  </a:cubicBezTo>
                  <a:lnTo>
                    <a:pt x="0" y="1176"/>
                  </a:lnTo>
                  <a:cubicBezTo>
                    <a:pt x="0" y="526"/>
                    <a:pt x="111" y="0"/>
                    <a:pt x="2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9" name="Rectangles"/>
            <p:cNvSpPr>
              <a:spLocks/>
            </p:cNvSpPr>
            <p:nvPr/>
          </p:nvSpPr>
          <p:spPr>
            <a:xfrm rot="0">
              <a:off x="5197731" y="2401835"/>
              <a:ext cx="9983018" cy="222912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grpSp>
        <p:nvGrpSpPr>
          <p:cNvPr id="223" name="Combination"/>
          <p:cNvGrpSpPr>
            <a:grpSpLocks/>
          </p:cNvGrpSpPr>
          <p:nvPr/>
        </p:nvGrpSpPr>
        <p:grpSpPr>
          <a:xfrm>
            <a:off x="2458604" y="2389555"/>
            <a:ext cx="2498300" cy="2229120"/>
            <a:chOff x="2458604" y="2389555"/>
            <a:chExt cx="2498300" cy="2229120"/>
          </a:xfrm>
        </p:grpSpPr>
        <p:sp>
          <p:nvSpPr>
            <p:cNvPr id="221" name="曲线"/>
            <p:cNvSpPr>
              <a:spLocks/>
            </p:cNvSpPr>
            <p:nvPr/>
          </p:nvSpPr>
          <p:spPr>
            <a:xfrm rot="0">
              <a:off x="2458604" y="2500670"/>
              <a:ext cx="2498300" cy="2118006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3985" y="0"/>
                  </a:moveTo>
                  <a:lnTo>
                    <a:pt x="17615" y="0"/>
                  </a:lnTo>
                  <a:cubicBezTo>
                    <a:pt x="19815" y="0"/>
                    <a:pt x="21600" y="2104"/>
                    <a:pt x="21600" y="4700"/>
                  </a:cubicBezTo>
                  <a:lnTo>
                    <a:pt x="21600" y="16899"/>
                  </a:lnTo>
                  <a:cubicBezTo>
                    <a:pt x="21600" y="19495"/>
                    <a:pt x="19815" y="21600"/>
                    <a:pt x="17615" y="21600"/>
                  </a:cubicBezTo>
                  <a:lnTo>
                    <a:pt x="3985" y="21600"/>
                  </a:lnTo>
                  <a:cubicBezTo>
                    <a:pt x="1784" y="21600"/>
                    <a:pt x="0" y="19495"/>
                    <a:pt x="0" y="16899"/>
                  </a:cubicBezTo>
                  <a:lnTo>
                    <a:pt x="0" y="4700"/>
                  </a:lnTo>
                  <a:cubicBezTo>
                    <a:pt x="0" y="2104"/>
                    <a:pt x="1784" y="0"/>
                    <a:pt x="39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22" name="Rectangles"/>
            <p:cNvSpPr>
              <a:spLocks/>
            </p:cNvSpPr>
            <p:nvPr/>
          </p:nvSpPr>
          <p:spPr>
            <a:xfrm rot="0">
              <a:off x="2458604" y="2389555"/>
              <a:ext cx="2498300" cy="222912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224" name="Rectangles"/>
          <p:cNvSpPr>
            <a:spLocks/>
          </p:cNvSpPr>
          <p:nvPr/>
        </p:nvSpPr>
        <p:spPr>
          <a:xfrm rot="0">
            <a:off x="2933792" y="2911838"/>
            <a:ext cx="1547927" cy="122910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96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912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01</a:t>
            </a:r>
            <a:endParaRPr lang="zh-CN" altLang="en-US" sz="6912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grpSp>
        <p:nvGrpSpPr>
          <p:cNvPr id="227" name="Combination"/>
          <p:cNvGrpSpPr>
            <a:grpSpLocks/>
          </p:cNvGrpSpPr>
          <p:nvPr/>
        </p:nvGrpSpPr>
        <p:grpSpPr>
          <a:xfrm>
            <a:off x="5197731" y="4802819"/>
            <a:ext cx="9983018" cy="2229121"/>
            <a:chOff x="5197731" y="4802819"/>
            <a:chExt cx="9983018" cy="2229121"/>
          </a:xfrm>
        </p:grpSpPr>
        <p:sp>
          <p:nvSpPr>
            <p:cNvPr id="225" name="曲线"/>
            <p:cNvSpPr>
              <a:spLocks/>
            </p:cNvSpPr>
            <p:nvPr/>
          </p:nvSpPr>
          <p:spPr>
            <a:xfrm rot="0">
              <a:off x="5197731" y="4913934"/>
              <a:ext cx="9983018" cy="2118006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49" y="0"/>
                  </a:moveTo>
                  <a:lnTo>
                    <a:pt x="21350" y="0"/>
                  </a:lnTo>
                  <a:cubicBezTo>
                    <a:pt x="21488" y="0"/>
                    <a:pt x="21600" y="526"/>
                    <a:pt x="21600" y="1176"/>
                  </a:cubicBezTo>
                  <a:lnTo>
                    <a:pt x="21600" y="20423"/>
                  </a:lnTo>
                  <a:cubicBezTo>
                    <a:pt x="21600" y="20735"/>
                    <a:pt x="21573" y="21034"/>
                    <a:pt x="21526" y="21255"/>
                  </a:cubicBezTo>
                  <a:cubicBezTo>
                    <a:pt x="21480" y="21476"/>
                    <a:pt x="21416" y="21600"/>
                    <a:pt x="21350" y="21600"/>
                  </a:cubicBezTo>
                  <a:lnTo>
                    <a:pt x="249" y="21600"/>
                  </a:lnTo>
                  <a:cubicBezTo>
                    <a:pt x="111" y="21600"/>
                    <a:pt x="0" y="21073"/>
                    <a:pt x="0" y="20423"/>
                  </a:cubicBezTo>
                  <a:lnTo>
                    <a:pt x="0" y="1176"/>
                  </a:lnTo>
                  <a:cubicBezTo>
                    <a:pt x="0" y="526"/>
                    <a:pt x="111" y="0"/>
                    <a:pt x="2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26" name="Rectangles"/>
            <p:cNvSpPr>
              <a:spLocks/>
            </p:cNvSpPr>
            <p:nvPr/>
          </p:nvSpPr>
          <p:spPr>
            <a:xfrm rot="0">
              <a:off x="5197731" y="4802819"/>
              <a:ext cx="9983018" cy="2229121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grpSp>
        <p:nvGrpSpPr>
          <p:cNvPr id="230" name="Combination"/>
          <p:cNvGrpSpPr>
            <a:grpSpLocks/>
          </p:cNvGrpSpPr>
          <p:nvPr/>
        </p:nvGrpSpPr>
        <p:grpSpPr>
          <a:xfrm>
            <a:off x="2458604" y="4790539"/>
            <a:ext cx="2498300" cy="2229120"/>
            <a:chOff x="2458604" y="4790539"/>
            <a:chExt cx="2498300" cy="2229120"/>
          </a:xfrm>
        </p:grpSpPr>
        <p:sp>
          <p:nvSpPr>
            <p:cNvPr id="228" name="曲线"/>
            <p:cNvSpPr>
              <a:spLocks/>
            </p:cNvSpPr>
            <p:nvPr/>
          </p:nvSpPr>
          <p:spPr>
            <a:xfrm rot="0">
              <a:off x="2458604" y="4901654"/>
              <a:ext cx="2498300" cy="2118006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3985" y="0"/>
                  </a:moveTo>
                  <a:lnTo>
                    <a:pt x="17615" y="0"/>
                  </a:lnTo>
                  <a:cubicBezTo>
                    <a:pt x="19815" y="0"/>
                    <a:pt x="21600" y="2104"/>
                    <a:pt x="21600" y="4700"/>
                  </a:cubicBezTo>
                  <a:lnTo>
                    <a:pt x="21600" y="16899"/>
                  </a:lnTo>
                  <a:cubicBezTo>
                    <a:pt x="21600" y="19495"/>
                    <a:pt x="19815" y="21600"/>
                    <a:pt x="17615" y="21600"/>
                  </a:cubicBezTo>
                  <a:lnTo>
                    <a:pt x="3985" y="21600"/>
                  </a:lnTo>
                  <a:cubicBezTo>
                    <a:pt x="1784" y="21600"/>
                    <a:pt x="0" y="19495"/>
                    <a:pt x="0" y="16899"/>
                  </a:cubicBezTo>
                  <a:lnTo>
                    <a:pt x="0" y="4700"/>
                  </a:lnTo>
                  <a:cubicBezTo>
                    <a:pt x="0" y="2104"/>
                    <a:pt x="1784" y="0"/>
                    <a:pt x="39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29" name="Rectangles"/>
            <p:cNvSpPr>
              <a:spLocks/>
            </p:cNvSpPr>
            <p:nvPr/>
          </p:nvSpPr>
          <p:spPr>
            <a:xfrm rot="0">
              <a:off x="2458604" y="4790539"/>
              <a:ext cx="2498300" cy="222912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231" name="Rectangles"/>
          <p:cNvSpPr>
            <a:spLocks/>
          </p:cNvSpPr>
          <p:nvPr/>
        </p:nvSpPr>
        <p:spPr>
          <a:xfrm rot="0">
            <a:off x="2933792" y="5312821"/>
            <a:ext cx="1547927" cy="122910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96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912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02</a:t>
            </a:r>
            <a:endParaRPr lang="zh-CN" altLang="en-US" sz="6912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grpSp>
        <p:nvGrpSpPr>
          <p:cNvPr id="234" name="Combination"/>
          <p:cNvGrpSpPr>
            <a:grpSpLocks/>
          </p:cNvGrpSpPr>
          <p:nvPr/>
        </p:nvGrpSpPr>
        <p:grpSpPr>
          <a:xfrm>
            <a:off x="5197731" y="7132863"/>
            <a:ext cx="9983018" cy="2229120"/>
            <a:chOff x="5197731" y="7132863"/>
            <a:chExt cx="9983018" cy="2229120"/>
          </a:xfrm>
        </p:grpSpPr>
        <p:sp>
          <p:nvSpPr>
            <p:cNvPr id="232" name="曲线"/>
            <p:cNvSpPr>
              <a:spLocks/>
            </p:cNvSpPr>
            <p:nvPr/>
          </p:nvSpPr>
          <p:spPr>
            <a:xfrm rot="0">
              <a:off x="5197731" y="7243977"/>
              <a:ext cx="9983018" cy="2118006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49" y="0"/>
                  </a:moveTo>
                  <a:lnTo>
                    <a:pt x="21350" y="0"/>
                  </a:lnTo>
                  <a:cubicBezTo>
                    <a:pt x="21488" y="0"/>
                    <a:pt x="21600" y="526"/>
                    <a:pt x="21600" y="1176"/>
                  </a:cubicBezTo>
                  <a:lnTo>
                    <a:pt x="21600" y="20423"/>
                  </a:lnTo>
                  <a:cubicBezTo>
                    <a:pt x="21600" y="20735"/>
                    <a:pt x="21573" y="21034"/>
                    <a:pt x="21526" y="21255"/>
                  </a:cubicBezTo>
                  <a:cubicBezTo>
                    <a:pt x="21480" y="21476"/>
                    <a:pt x="21416" y="21600"/>
                    <a:pt x="21350" y="21600"/>
                  </a:cubicBezTo>
                  <a:lnTo>
                    <a:pt x="249" y="21600"/>
                  </a:lnTo>
                  <a:cubicBezTo>
                    <a:pt x="111" y="21600"/>
                    <a:pt x="0" y="21073"/>
                    <a:pt x="0" y="20423"/>
                  </a:cubicBezTo>
                  <a:lnTo>
                    <a:pt x="0" y="1176"/>
                  </a:lnTo>
                  <a:cubicBezTo>
                    <a:pt x="0" y="526"/>
                    <a:pt x="111" y="0"/>
                    <a:pt x="2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33" name="Rectangles"/>
            <p:cNvSpPr>
              <a:spLocks/>
            </p:cNvSpPr>
            <p:nvPr/>
          </p:nvSpPr>
          <p:spPr>
            <a:xfrm rot="0">
              <a:off x="5197731" y="7132863"/>
              <a:ext cx="9983018" cy="222912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grpSp>
        <p:nvGrpSpPr>
          <p:cNvPr id="237" name="Combination"/>
          <p:cNvGrpSpPr>
            <a:grpSpLocks/>
          </p:cNvGrpSpPr>
          <p:nvPr/>
        </p:nvGrpSpPr>
        <p:grpSpPr>
          <a:xfrm>
            <a:off x="2458604" y="7120583"/>
            <a:ext cx="2498300" cy="2229121"/>
            <a:chOff x="2458604" y="7120583"/>
            <a:chExt cx="2498300" cy="2229121"/>
          </a:xfrm>
        </p:grpSpPr>
        <p:sp>
          <p:nvSpPr>
            <p:cNvPr id="235" name="曲线"/>
            <p:cNvSpPr>
              <a:spLocks/>
            </p:cNvSpPr>
            <p:nvPr/>
          </p:nvSpPr>
          <p:spPr>
            <a:xfrm rot="0">
              <a:off x="2458604" y="7231698"/>
              <a:ext cx="2498300" cy="2118006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3985" y="0"/>
                  </a:moveTo>
                  <a:lnTo>
                    <a:pt x="17615" y="0"/>
                  </a:lnTo>
                  <a:cubicBezTo>
                    <a:pt x="19815" y="0"/>
                    <a:pt x="21600" y="2104"/>
                    <a:pt x="21600" y="4700"/>
                  </a:cubicBezTo>
                  <a:lnTo>
                    <a:pt x="21600" y="16899"/>
                  </a:lnTo>
                  <a:cubicBezTo>
                    <a:pt x="21600" y="19495"/>
                    <a:pt x="19815" y="21600"/>
                    <a:pt x="17615" y="21600"/>
                  </a:cubicBezTo>
                  <a:lnTo>
                    <a:pt x="3985" y="21600"/>
                  </a:lnTo>
                  <a:cubicBezTo>
                    <a:pt x="1784" y="21600"/>
                    <a:pt x="0" y="19495"/>
                    <a:pt x="0" y="16899"/>
                  </a:cubicBezTo>
                  <a:lnTo>
                    <a:pt x="0" y="4700"/>
                  </a:lnTo>
                  <a:cubicBezTo>
                    <a:pt x="0" y="2104"/>
                    <a:pt x="1784" y="0"/>
                    <a:pt x="39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36" name="Rectangles"/>
            <p:cNvSpPr>
              <a:spLocks/>
            </p:cNvSpPr>
            <p:nvPr/>
          </p:nvSpPr>
          <p:spPr>
            <a:xfrm rot="0">
              <a:off x="2458604" y="7120583"/>
              <a:ext cx="2498300" cy="2229121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238" name="Rectangles"/>
          <p:cNvSpPr>
            <a:spLocks/>
          </p:cNvSpPr>
          <p:nvPr/>
        </p:nvSpPr>
        <p:spPr>
          <a:xfrm rot="0">
            <a:off x="2933792" y="7642865"/>
            <a:ext cx="1547927" cy="122910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96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912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03</a:t>
            </a:r>
            <a:endParaRPr lang="zh-CN" altLang="en-US" sz="6912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sp>
        <p:nvSpPr>
          <p:cNvPr id="239" name="Rectangles"/>
          <p:cNvSpPr>
            <a:spLocks/>
          </p:cNvSpPr>
          <p:nvPr/>
        </p:nvSpPr>
        <p:spPr>
          <a:xfrm rot="0">
            <a:off x="5803185" y="2470117"/>
            <a:ext cx="7929516" cy="19741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95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Neural Network Adaptive Controllers</a:t>
            </a:r>
            <a:endParaRPr lang="en-US" altLang="zh-CN" sz="2895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473964" indent="-236982" algn="l">
              <a:lnSpc>
                <a:spcPts val="384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1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NN approximates unknown dynamics or cost functions</a:t>
            </a:r>
            <a:endParaRPr lang="en-US" altLang="zh-CN" sz="21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473964" indent="-236982" algn="l">
              <a:lnSpc>
                <a:spcPts val="384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1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Weights updated via online gradient rules</a:t>
            </a:r>
            <a:endParaRPr lang="en-US" altLang="zh-CN" sz="21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473964" indent="-236982" algn="l">
              <a:lnSpc>
                <a:spcPts val="384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1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Common in aerospace &amp; robotics</a:t>
            </a:r>
            <a:endParaRPr lang="zh-CN" altLang="en-US" sz="21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  <p:sp>
        <p:nvSpPr>
          <p:cNvPr id="240" name="Rectangles"/>
          <p:cNvSpPr>
            <a:spLocks/>
          </p:cNvSpPr>
          <p:nvPr/>
        </p:nvSpPr>
        <p:spPr>
          <a:xfrm rot="0">
            <a:off x="5845984" y="4938502"/>
            <a:ext cx="6596031" cy="180165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2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995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Gaussian Process Adaptive Control</a:t>
            </a:r>
            <a:endParaRPr lang="en-US" altLang="zh-CN" sz="2995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603504" indent="-301752" algn="l">
              <a:lnSpc>
                <a:spcPts val="489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Probabilistic dynamics modeling</a:t>
            </a:r>
            <a:endParaRPr lang="en-US" altLang="zh-CN" sz="27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3504" indent="-301752" algn="l">
              <a:lnSpc>
                <a:spcPts val="489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Confidence intervals for safety</a:t>
            </a:r>
            <a:endParaRPr lang="zh-CN" altLang="en-US" sz="27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  <p:sp>
        <p:nvSpPr>
          <p:cNvPr id="241" name="Rectangles"/>
          <p:cNvSpPr>
            <a:spLocks/>
          </p:cNvSpPr>
          <p:nvPr/>
        </p:nvSpPr>
        <p:spPr>
          <a:xfrm rot="0">
            <a:off x="5753491" y="7174813"/>
            <a:ext cx="9680525" cy="20315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4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95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RL-Based Adaptive Control</a:t>
            </a:r>
            <a:endParaRPr lang="en-US" altLang="zh-CN" sz="2695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517144" indent="-258572" algn="l">
              <a:lnSpc>
                <a:spcPts val="419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3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Policy updated online</a:t>
            </a:r>
            <a:endParaRPr lang="en-US" altLang="zh-CN" sz="23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17144" indent="-258572" algn="l">
              <a:lnSpc>
                <a:spcPts val="419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3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Actor–Critic architecture replaces control law</a:t>
            </a:r>
            <a:endParaRPr lang="en-US" altLang="zh-CN" sz="23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517144" indent="-258572" algn="l">
              <a:lnSpc>
                <a:spcPts val="419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39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Handles unmodeled nonlinearities &amp; long horizons</a:t>
            </a:r>
            <a:endParaRPr lang="zh-CN" altLang="en-US" sz="239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105131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曲线"/>
          <p:cNvSpPr>
            <a:spLocks/>
          </p:cNvSpPr>
          <p:nvPr/>
        </p:nvSpPr>
        <p:spPr>
          <a:xfrm rot="0">
            <a:off x="-2057400" y="-1258963"/>
            <a:ext cx="4114800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43" name="曲线"/>
          <p:cNvSpPr>
            <a:spLocks/>
          </p:cNvSpPr>
          <p:nvPr/>
        </p:nvSpPr>
        <p:spPr>
          <a:xfrm rot="0">
            <a:off x="-1702233" y="-903795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44" name="Rectangles"/>
          <p:cNvSpPr>
            <a:spLocks/>
          </p:cNvSpPr>
          <p:nvPr/>
        </p:nvSpPr>
        <p:spPr>
          <a:xfrm rot="0">
            <a:off x="4373090" y="938582"/>
            <a:ext cx="11349657" cy="159994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6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500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ADVANCED REAL-WORLD APPLICATION: AUTONOMOUS UAVS</a:t>
            </a:r>
            <a:endParaRPr lang="zh-CN" altLang="en-US" sz="4500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sp>
        <p:nvSpPr>
          <p:cNvPr id="245" name="Rectangles"/>
          <p:cNvSpPr>
            <a:spLocks/>
          </p:cNvSpPr>
          <p:nvPr/>
        </p:nvSpPr>
        <p:spPr>
          <a:xfrm rot="0">
            <a:off x="2356819" y="3885759"/>
            <a:ext cx="6090799" cy="387429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66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199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Challenges:</a:t>
            </a:r>
            <a:endParaRPr lang="en-US" altLang="zh-CN" sz="3199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647446" indent="-323723" algn="l">
              <a:lnSpc>
                <a:spcPts val="548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9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Stochastic wind fields</a:t>
            </a:r>
            <a:endParaRPr lang="en-US" altLang="zh-CN" sz="29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47446" indent="-323723" algn="l">
              <a:lnSpc>
                <a:spcPts val="548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9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Rapid payload changes</a:t>
            </a:r>
            <a:endParaRPr lang="en-US" altLang="zh-CN" sz="29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47446" indent="-323723" algn="l">
              <a:lnSpc>
                <a:spcPts val="548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9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Aerodynamic uncertainties</a:t>
            </a:r>
            <a:endParaRPr lang="en-US" altLang="zh-CN" sz="29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47446" indent="-323723" algn="l">
              <a:lnSpc>
                <a:spcPts val="548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9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Coupled nonlinear dynamics</a:t>
            </a:r>
            <a:endParaRPr lang="en-US" altLang="zh-CN" sz="29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marL="0" indent="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9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  <p:sp>
        <p:nvSpPr>
          <p:cNvPr id="246" name="曲线"/>
          <p:cNvSpPr>
            <a:spLocks/>
          </p:cNvSpPr>
          <p:nvPr/>
        </p:nvSpPr>
        <p:spPr>
          <a:xfrm rot="0">
            <a:off x="16230600" y="7200900"/>
            <a:ext cx="4114798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47" name="曲线"/>
          <p:cNvSpPr>
            <a:spLocks/>
          </p:cNvSpPr>
          <p:nvPr/>
        </p:nvSpPr>
        <p:spPr>
          <a:xfrm rot="0">
            <a:off x="16585766" y="7556066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250" name="Combination"/>
          <p:cNvGrpSpPr>
            <a:grpSpLocks/>
          </p:cNvGrpSpPr>
          <p:nvPr/>
        </p:nvGrpSpPr>
        <p:grpSpPr>
          <a:xfrm>
            <a:off x="12319137" y="9258300"/>
            <a:ext cx="3911463" cy="3911462"/>
            <a:chOff x="12319137" y="9258300"/>
            <a:chExt cx="3911463" cy="3911462"/>
          </a:xfrm>
        </p:grpSpPr>
        <p:sp>
          <p:nvSpPr>
            <p:cNvPr id="248" name="曲线"/>
            <p:cNvSpPr>
              <a:spLocks/>
            </p:cNvSpPr>
            <p:nvPr/>
          </p:nvSpPr>
          <p:spPr>
            <a:xfrm rot="0">
              <a:off x="12319137" y="9258300"/>
              <a:ext cx="3911463" cy="391146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249" name="Rectangles"/>
            <p:cNvSpPr>
              <a:spLocks/>
            </p:cNvSpPr>
            <p:nvPr/>
          </p:nvSpPr>
          <p:spPr>
            <a:xfrm rot="0">
              <a:off x="12685838" y="9441650"/>
              <a:ext cx="3178063" cy="336141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251" name="曲线"/>
          <p:cNvSpPr>
            <a:spLocks/>
          </p:cNvSpPr>
          <p:nvPr/>
        </p:nvSpPr>
        <p:spPr>
          <a:xfrm rot="0">
            <a:off x="16998732" y="7969033"/>
            <a:ext cx="2578532" cy="2578532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52" name="曲线"/>
          <p:cNvSpPr>
            <a:spLocks/>
          </p:cNvSpPr>
          <p:nvPr/>
        </p:nvSpPr>
        <p:spPr>
          <a:xfrm rot="0">
            <a:off x="-1289267" y="-490829"/>
            <a:ext cx="2578533" cy="257853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255" name="Combination"/>
          <p:cNvGrpSpPr>
            <a:grpSpLocks/>
          </p:cNvGrpSpPr>
          <p:nvPr/>
        </p:nvGrpSpPr>
        <p:grpSpPr>
          <a:xfrm>
            <a:off x="2129385" y="-2859527"/>
            <a:ext cx="3911463" cy="3911463"/>
            <a:chOff x="2129385" y="-2859527"/>
            <a:chExt cx="3911463" cy="3911463"/>
          </a:xfrm>
        </p:grpSpPr>
        <p:sp>
          <p:nvSpPr>
            <p:cNvPr id="253" name="曲线"/>
            <p:cNvSpPr>
              <a:spLocks/>
            </p:cNvSpPr>
            <p:nvPr/>
          </p:nvSpPr>
          <p:spPr>
            <a:xfrm rot="0">
              <a:off x="2129385" y="-2859527"/>
              <a:ext cx="3911463" cy="391146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254" name="Rectangles"/>
            <p:cNvSpPr>
              <a:spLocks/>
            </p:cNvSpPr>
            <p:nvPr/>
          </p:nvSpPr>
          <p:spPr>
            <a:xfrm rot="0">
              <a:off x="2496084" y="-2676177"/>
              <a:ext cx="3178063" cy="336141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256" name="Rectangles"/>
          <p:cNvSpPr>
            <a:spLocks/>
          </p:cNvSpPr>
          <p:nvPr/>
        </p:nvSpPr>
        <p:spPr>
          <a:xfrm rot="0">
            <a:off x="9856137" y="3636203"/>
            <a:ext cx="8431864" cy="400281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75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99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Adaptive ML solutions:</a:t>
            </a:r>
            <a:endParaRPr lang="en-US" altLang="zh-CN" sz="3399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647446" indent="-323723" algn="l">
              <a:lnSpc>
                <a:spcPts val="551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9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GP-based disturbance observers</a:t>
            </a:r>
            <a:endParaRPr lang="en-US" altLang="zh-CN" sz="29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47446" indent="-323723" algn="l">
              <a:lnSpc>
                <a:spcPts val="551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9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RL-based trajectory optimization</a:t>
            </a:r>
            <a:endParaRPr lang="en-US" altLang="zh-CN" sz="29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47446" indent="-323723" algn="l">
              <a:lnSpc>
                <a:spcPts val="551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9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Neural adaptive backstepping controllers</a:t>
            </a:r>
            <a:endParaRPr lang="en-US" altLang="zh-CN" sz="29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47446" indent="-323723" algn="l">
              <a:lnSpc>
                <a:spcPts val="551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9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Vision-driven adaptive attitude control</a:t>
            </a:r>
            <a:endParaRPr lang="en-US" altLang="zh-CN" sz="29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marL="0" indent="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9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  <p:grpSp>
        <p:nvGrpSpPr>
          <p:cNvPr id="259" name="Combination"/>
          <p:cNvGrpSpPr>
            <a:grpSpLocks/>
          </p:cNvGrpSpPr>
          <p:nvPr/>
        </p:nvGrpSpPr>
        <p:grpSpPr>
          <a:xfrm>
            <a:off x="1289267" y="3858517"/>
            <a:ext cx="819902" cy="819902"/>
            <a:chOff x="1289267" y="3858517"/>
            <a:chExt cx="819902" cy="819902"/>
          </a:xfrm>
        </p:grpSpPr>
        <p:sp>
          <p:nvSpPr>
            <p:cNvPr id="257" name="曲线"/>
            <p:cNvSpPr>
              <a:spLocks/>
            </p:cNvSpPr>
            <p:nvPr/>
          </p:nvSpPr>
          <p:spPr>
            <a:xfrm rot="0">
              <a:off x="1289267" y="3858517"/>
              <a:ext cx="819902" cy="81990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258" name="Rectangles"/>
            <p:cNvSpPr>
              <a:spLocks/>
            </p:cNvSpPr>
            <p:nvPr/>
          </p:nvSpPr>
          <p:spPr>
            <a:xfrm rot="0">
              <a:off x="1366132" y="3896950"/>
              <a:ext cx="666170" cy="70460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260" name="曲线"/>
          <p:cNvSpPr>
            <a:spLocks/>
          </p:cNvSpPr>
          <p:nvPr/>
        </p:nvSpPr>
        <p:spPr>
          <a:xfrm rot="0">
            <a:off x="1447320" y="3804920"/>
            <a:ext cx="503794" cy="780852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263" name="Combination"/>
          <p:cNvGrpSpPr>
            <a:grpSpLocks/>
          </p:cNvGrpSpPr>
          <p:nvPr/>
        </p:nvGrpSpPr>
        <p:grpSpPr>
          <a:xfrm>
            <a:off x="8857193" y="3752131"/>
            <a:ext cx="819902" cy="819902"/>
            <a:chOff x="8857193" y="3752131"/>
            <a:chExt cx="819902" cy="819902"/>
          </a:xfrm>
        </p:grpSpPr>
        <p:sp>
          <p:nvSpPr>
            <p:cNvPr id="261" name="曲线"/>
            <p:cNvSpPr>
              <a:spLocks/>
            </p:cNvSpPr>
            <p:nvPr/>
          </p:nvSpPr>
          <p:spPr>
            <a:xfrm rot="0">
              <a:off x="8857193" y="3752131"/>
              <a:ext cx="819902" cy="81990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262" name="Rectangles"/>
            <p:cNvSpPr>
              <a:spLocks/>
            </p:cNvSpPr>
            <p:nvPr/>
          </p:nvSpPr>
          <p:spPr>
            <a:xfrm rot="0">
              <a:off x="8934058" y="3790563"/>
              <a:ext cx="666170" cy="70460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264" name="曲线"/>
          <p:cNvSpPr>
            <a:spLocks/>
          </p:cNvSpPr>
          <p:nvPr/>
        </p:nvSpPr>
        <p:spPr>
          <a:xfrm rot="0">
            <a:off x="9015247" y="3698534"/>
            <a:ext cx="503794" cy="780852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/>
          </a:blipFill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999599108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曲线"/>
          <p:cNvSpPr>
            <a:spLocks/>
          </p:cNvSpPr>
          <p:nvPr/>
        </p:nvSpPr>
        <p:spPr>
          <a:xfrm rot="0">
            <a:off x="-2057400" y="-1258963"/>
            <a:ext cx="4114800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66" name="曲线"/>
          <p:cNvSpPr>
            <a:spLocks/>
          </p:cNvSpPr>
          <p:nvPr/>
        </p:nvSpPr>
        <p:spPr>
          <a:xfrm rot="0">
            <a:off x="-1702233" y="-903795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67" name="曲线"/>
          <p:cNvSpPr>
            <a:spLocks/>
          </p:cNvSpPr>
          <p:nvPr/>
        </p:nvSpPr>
        <p:spPr>
          <a:xfrm rot="0">
            <a:off x="16230600" y="7200900"/>
            <a:ext cx="4114798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68" name="曲线"/>
          <p:cNvSpPr>
            <a:spLocks/>
          </p:cNvSpPr>
          <p:nvPr/>
        </p:nvSpPr>
        <p:spPr>
          <a:xfrm rot="0">
            <a:off x="16585766" y="7556066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271" name="Combination"/>
          <p:cNvGrpSpPr>
            <a:grpSpLocks/>
          </p:cNvGrpSpPr>
          <p:nvPr/>
        </p:nvGrpSpPr>
        <p:grpSpPr>
          <a:xfrm>
            <a:off x="12319137" y="9258300"/>
            <a:ext cx="3911463" cy="3911462"/>
            <a:chOff x="12319137" y="9258300"/>
            <a:chExt cx="3911463" cy="3911462"/>
          </a:xfrm>
        </p:grpSpPr>
        <p:sp>
          <p:nvSpPr>
            <p:cNvPr id="269" name="曲线"/>
            <p:cNvSpPr>
              <a:spLocks/>
            </p:cNvSpPr>
            <p:nvPr/>
          </p:nvSpPr>
          <p:spPr>
            <a:xfrm rot="0">
              <a:off x="12319137" y="9258300"/>
              <a:ext cx="3911463" cy="391146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270" name="Rectangles"/>
            <p:cNvSpPr>
              <a:spLocks/>
            </p:cNvSpPr>
            <p:nvPr/>
          </p:nvSpPr>
          <p:spPr>
            <a:xfrm rot="0">
              <a:off x="12685838" y="9441650"/>
              <a:ext cx="3178063" cy="336141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272" name="曲线"/>
          <p:cNvSpPr>
            <a:spLocks/>
          </p:cNvSpPr>
          <p:nvPr/>
        </p:nvSpPr>
        <p:spPr>
          <a:xfrm rot="0">
            <a:off x="16998732" y="7969033"/>
            <a:ext cx="2578532" cy="2578532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73" name="曲线"/>
          <p:cNvSpPr>
            <a:spLocks/>
          </p:cNvSpPr>
          <p:nvPr/>
        </p:nvSpPr>
        <p:spPr>
          <a:xfrm rot="0">
            <a:off x="-1289267" y="-490829"/>
            <a:ext cx="2578533" cy="257853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276" name="Combination"/>
          <p:cNvGrpSpPr>
            <a:grpSpLocks/>
          </p:cNvGrpSpPr>
          <p:nvPr/>
        </p:nvGrpSpPr>
        <p:grpSpPr>
          <a:xfrm>
            <a:off x="2129385" y="-2859527"/>
            <a:ext cx="3911463" cy="3911463"/>
            <a:chOff x="2129385" y="-2859527"/>
            <a:chExt cx="3911463" cy="3911463"/>
          </a:xfrm>
        </p:grpSpPr>
        <p:sp>
          <p:nvSpPr>
            <p:cNvPr id="274" name="曲线"/>
            <p:cNvSpPr>
              <a:spLocks/>
            </p:cNvSpPr>
            <p:nvPr/>
          </p:nvSpPr>
          <p:spPr>
            <a:xfrm rot="0">
              <a:off x="2129385" y="-2859527"/>
              <a:ext cx="3911463" cy="391146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275" name="Rectangles"/>
            <p:cNvSpPr>
              <a:spLocks/>
            </p:cNvSpPr>
            <p:nvPr/>
          </p:nvSpPr>
          <p:spPr>
            <a:xfrm rot="0">
              <a:off x="2496084" y="-2676177"/>
              <a:ext cx="3178063" cy="336141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277" name="Rectangles"/>
          <p:cNvSpPr>
            <a:spLocks/>
          </p:cNvSpPr>
          <p:nvPr/>
        </p:nvSpPr>
        <p:spPr>
          <a:xfrm rot="0">
            <a:off x="5968863" y="1325704"/>
            <a:ext cx="6350274" cy="7999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6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500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ADAPTIVE ROBOTICS</a:t>
            </a:r>
            <a:endParaRPr lang="zh-CN" altLang="en-US" sz="4500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grpSp>
        <p:nvGrpSpPr>
          <p:cNvPr id="280" name="Combination"/>
          <p:cNvGrpSpPr>
            <a:grpSpLocks/>
          </p:cNvGrpSpPr>
          <p:nvPr/>
        </p:nvGrpSpPr>
        <p:grpSpPr>
          <a:xfrm>
            <a:off x="1898336" y="3491241"/>
            <a:ext cx="6857878" cy="4768886"/>
            <a:chOff x="1898336" y="3491241"/>
            <a:chExt cx="6857878" cy="4768886"/>
          </a:xfrm>
        </p:grpSpPr>
        <p:sp>
          <p:nvSpPr>
            <p:cNvPr id="278" name="曲线"/>
            <p:cNvSpPr>
              <a:spLocks/>
            </p:cNvSpPr>
            <p:nvPr/>
          </p:nvSpPr>
          <p:spPr>
            <a:xfrm rot="0">
              <a:off x="1898336" y="3635902"/>
              <a:ext cx="6857878" cy="462422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432" y="0"/>
                  </a:moveTo>
                  <a:lnTo>
                    <a:pt x="21167" y="0"/>
                  </a:lnTo>
                  <a:cubicBezTo>
                    <a:pt x="21406" y="0"/>
                    <a:pt x="21600" y="286"/>
                    <a:pt x="21600" y="640"/>
                  </a:cubicBezTo>
                  <a:lnTo>
                    <a:pt x="21600" y="20959"/>
                  </a:lnTo>
                  <a:cubicBezTo>
                    <a:pt x="21600" y="21313"/>
                    <a:pt x="21406" y="21600"/>
                    <a:pt x="21167" y="21600"/>
                  </a:cubicBezTo>
                  <a:lnTo>
                    <a:pt x="432" y="21600"/>
                  </a:lnTo>
                  <a:cubicBezTo>
                    <a:pt x="193" y="21600"/>
                    <a:pt x="0" y="21313"/>
                    <a:pt x="0" y="20959"/>
                  </a:cubicBezTo>
                  <a:lnTo>
                    <a:pt x="0" y="640"/>
                  </a:lnTo>
                  <a:cubicBezTo>
                    <a:pt x="0" y="286"/>
                    <a:pt x="193" y="0"/>
                    <a:pt x="43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79" name="Rectangles"/>
            <p:cNvSpPr>
              <a:spLocks/>
            </p:cNvSpPr>
            <p:nvPr/>
          </p:nvSpPr>
          <p:spPr>
            <a:xfrm rot="0">
              <a:off x="1898336" y="3491241"/>
              <a:ext cx="6857878" cy="4768885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grpSp>
        <p:nvGrpSpPr>
          <p:cNvPr id="283" name="Combination"/>
          <p:cNvGrpSpPr>
            <a:grpSpLocks/>
          </p:cNvGrpSpPr>
          <p:nvPr/>
        </p:nvGrpSpPr>
        <p:grpSpPr>
          <a:xfrm>
            <a:off x="634755" y="3660637"/>
            <a:ext cx="1050583" cy="1050583"/>
            <a:chOff x="634755" y="3660637"/>
            <a:chExt cx="1050583" cy="1050583"/>
          </a:xfrm>
        </p:grpSpPr>
        <p:sp>
          <p:nvSpPr>
            <p:cNvPr id="281" name="曲线"/>
            <p:cNvSpPr>
              <a:spLocks/>
            </p:cNvSpPr>
            <p:nvPr/>
          </p:nvSpPr>
          <p:spPr>
            <a:xfrm rot="0">
              <a:off x="634755" y="3660637"/>
              <a:ext cx="1050583" cy="105058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599"/>
                    <a:pt x="10800" y="21599"/>
                  </a:cubicBezTo>
                  <a:cubicBezTo>
                    <a:pt x="16764" y="21599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282" name="Rectangles"/>
            <p:cNvSpPr>
              <a:spLocks/>
            </p:cNvSpPr>
            <p:nvPr/>
          </p:nvSpPr>
          <p:spPr>
            <a:xfrm rot="0">
              <a:off x="733247" y="3709883"/>
              <a:ext cx="853598" cy="90284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284" name="曲线"/>
          <p:cNvSpPr>
            <a:spLocks/>
          </p:cNvSpPr>
          <p:nvPr/>
        </p:nvSpPr>
        <p:spPr>
          <a:xfrm rot="0">
            <a:off x="837277" y="3591960"/>
            <a:ext cx="645538" cy="1000544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85" name="Rectangles"/>
          <p:cNvSpPr>
            <a:spLocks/>
          </p:cNvSpPr>
          <p:nvPr/>
        </p:nvSpPr>
        <p:spPr>
          <a:xfrm rot="0">
            <a:off x="2069264" y="3691840"/>
            <a:ext cx="6516023" cy="40076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58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945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Industrial and humanoid robots face:</a:t>
            </a:r>
            <a:endParaRPr lang="en-US" altLang="zh-CN" sz="2945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635762" indent="-317881" algn="just">
              <a:lnSpc>
                <a:spcPts val="594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94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Unknown payload inertia</a:t>
            </a:r>
            <a:endParaRPr lang="en-US" altLang="zh-CN" sz="294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35762" indent="-317881" algn="just">
              <a:lnSpc>
                <a:spcPts val="594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94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Changing contact forces</a:t>
            </a:r>
            <a:endParaRPr lang="en-US" altLang="zh-CN" sz="294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35762" indent="-317881" algn="just">
              <a:lnSpc>
                <a:spcPts val="594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94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Joint friction variability</a:t>
            </a:r>
            <a:endParaRPr lang="en-US" altLang="zh-CN" sz="294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35762" indent="-317881" algn="just">
              <a:lnSpc>
                <a:spcPts val="594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945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Wear-and-tear drift</a:t>
            </a:r>
            <a:endParaRPr lang="en-US" altLang="zh-CN" sz="294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marL="0" indent="0" algn="just">
              <a:lnSpc>
                <a:spcPts val="4123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945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  <p:grpSp>
        <p:nvGrpSpPr>
          <p:cNvPr id="288" name="Combination"/>
          <p:cNvGrpSpPr>
            <a:grpSpLocks/>
          </p:cNvGrpSpPr>
          <p:nvPr/>
        </p:nvGrpSpPr>
        <p:grpSpPr>
          <a:xfrm>
            <a:off x="10438893" y="3491241"/>
            <a:ext cx="7082854" cy="4768886"/>
            <a:chOff x="10438893" y="3491241"/>
            <a:chExt cx="7082854" cy="4768886"/>
          </a:xfrm>
        </p:grpSpPr>
        <p:sp>
          <p:nvSpPr>
            <p:cNvPr id="286" name="曲线"/>
            <p:cNvSpPr>
              <a:spLocks/>
            </p:cNvSpPr>
            <p:nvPr/>
          </p:nvSpPr>
          <p:spPr>
            <a:xfrm rot="0">
              <a:off x="10438893" y="3635902"/>
              <a:ext cx="7082854" cy="462422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405" y="0"/>
                  </a:moveTo>
                  <a:lnTo>
                    <a:pt x="21194" y="0"/>
                  </a:lnTo>
                  <a:cubicBezTo>
                    <a:pt x="21302" y="0"/>
                    <a:pt x="21405" y="65"/>
                    <a:pt x="21481" y="181"/>
                  </a:cubicBezTo>
                  <a:cubicBezTo>
                    <a:pt x="21557" y="298"/>
                    <a:pt x="21600" y="455"/>
                    <a:pt x="21600" y="620"/>
                  </a:cubicBezTo>
                  <a:lnTo>
                    <a:pt x="21600" y="20979"/>
                  </a:lnTo>
                  <a:cubicBezTo>
                    <a:pt x="21600" y="21144"/>
                    <a:pt x="21557" y="21301"/>
                    <a:pt x="21481" y="21418"/>
                  </a:cubicBezTo>
                  <a:cubicBezTo>
                    <a:pt x="21405" y="21534"/>
                    <a:pt x="21302" y="21600"/>
                    <a:pt x="21194" y="21600"/>
                  </a:cubicBezTo>
                  <a:lnTo>
                    <a:pt x="405" y="21600"/>
                  </a:lnTo>
                  <a:cubicBezTo>
                    <a:pt x="181" y="21600"/>
                    <a:pt x="0" y="21322"/>
                    <a:pt x="0" y="20979"/>
                  </a:cubicBezTo>
                  <a:lnTo>
                    <a:pt x="0" y="620"/>
                  </a:lnTo>
                  <a:cubicBezTo>
                    <a:pt x="0" y="455"/>
                    <a:pt x="42" y="298"/>
                    <a:pt x="118" y="181"/>
                  </a:cubicBezTo>
                  <a:cubicBezTo>
                    <a:pt x="194" y="65"/>
                    <a:pt x="297" y="0"/>
                    <a:pt x="4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87" name="Rectangles"/>
            <p:cNvSpPr>
              <a:spLocks/>
            </p:cNvSpPr>
            <p:nvPr/>
          </p:nvSpPr>
          <p:spPr>
            <a:xfrm rot="0">
              <a:off x="10438893" y="3491241"/>
              <a:ext cx="7082854" cy="4768885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grpSp>
        <p:nvGrpSpPr>
          <p:cNvPr id="291" name="Combination"/>
          <p:cNvGrpSpPr>
            <a:grpSpLocks/>
          </p:cNvGrpSpPr>
          <p:nvPr/>
        </p:nvGrpSpPr>
        <p:grpSpPr>
          <a:xfrm>
            <a:off x="9175315" y="3660637"/>
            <a:ext cx="1050582" cy="1050583"/>
            <a:chOff x="9175315" y="3660637"/>
            <a:chExt cx="1050582" cy="1050583"/>
          </a:xfrm>
        </p:grpSpPr>
        <p:sp>
          <p:nvSpPr>
            <p:cNvPr id="289" name="曲线"/>
            <p:cNvSpPr>
              <a:spLocks/>
            </p:cNvSpPr>
            <p:nvPr/>
          </p:nvSpPr>
          <p:spPr>
            <a:xfrm rot="0">
              <a:off x="9175315" y="3660637"/>
              <a:ext cx="1050582" cy="105058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599"/>
                    <a:pt x="10800" y="21599"/>
                  </a:cubicBezTo>
                  <a:cubicBezTo>
                    <a:pt x="16764" y="21599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290" name="Rectangles"/>
            <p:cNvSpPr>
              <a:spLocks/>
            </p:cNvSpPr>
            <p:nvPr/>
          </p:nvSpPr>
          <p:spPr>
            <a:xfrm rot="0">
              <a:off x="9273806" y="3709883"/>
              <a:ext cx="853598" cy="90284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292" name="曲线"/>
          <p:cNvSpPr>
            <a:spLocks/>
          </p:cNvSpPr>
          <p:nvPr/>
        </p:nvSpPr>
        <p:spPr>
          <a:xfrm rot="0">
            <a:off x="9377836" y="3591960"/>
            <a:ext cx="645538" cy="1000544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93" name="Rectangles"/>
          <p:cNvSpPr>
            <a:spLocks/>
          </p:cNvSpPr>
          <p:nvPr/>
        </p:nvSpPr>
        <p:spPr>
          <a:xfrm rot="0">
            <a:off x="10625034" y="3668228"/>
            <a:ext cx="6634266" cy="43311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56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99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ML-enhanced adaptive techniques:</a:t>
            </a:r>
            <a:endParaRPr lang="en-US" altLang="zh-CN" sz="2899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604393" indent="-302260" algn="just">
              <a:lnSpc>
                <a:spcPts val="5235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Deep system identification networks</a:t>
            </a:r>
            <a:endParaRPr lang="en-US" altLang="zh-CN" sz="27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4393" indent="-302260" algn="just">
              <a:lnSpc>
                <a:spcPts val="5235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Whole-body RL control</a:t>
            </a:r>
            <a:endParaRPr lang="en-US" altLang="zh-CN" sz="27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4393" indent="-302260" algn="just">
              <a:lnSpc>
                <a:spcPts val="5235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Adaptive impedance control</a:t>
            </a:r>
            <a:endParaRPr lang="en-US" altLang="zh-CN" sz="27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4393" indent="-302260" algn="just">
              <a:lnSpc>
                <a:spcPts val="5235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Model predictive control with online adaptation (Adaptive MPC)</a:t>
            </a:r>
            <a:endParaRPr lang="en-US" altLang="zh-CN" sz="27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marL="0" indent="0" algn="just">
              <a:lnSpc>
                <a:spcPts val="391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7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264928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曲线"/>
          <p:cNvSpPr>
            <a:spLocks/>
          </p:cNvSpPr>
          <p:nvPr/>
        </p:nvSpPr>
        <p:spPr>
          <a:xfrm rot="0">
            <a:off x="-2057400" y="-1258963"/>
            <a:ext cx="4114800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95" name="曲线"/>
          <p:cNvSpPr>
            <a:spLocks/>
          </p:cNvSpPr>
          <p:nvPr/>
        </p:nvSpPr>
        <p:spPr>
          <a:xfrm rot="0">
            <a:off x="-1702233" y="-903795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96" name="曲线"/>
          <p:cNvSpPr>
            <a:spLocks/>
          </p:cNvSpPr>
          <p:nvPr/>
        </p:nvSpPr>
        <p:spPr>
          <a:xfrm rot="0">
            <a:off x="16230600" y="7200900"/>
            <a:ext cx="4114798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297" name="曲线"/>
          <p:cNvSpPr>
            <a:spLocks/>
          </p:cNvSpPr>
          <p:nvPr/>
        </p:nvSpPr>
        <p:spPr>
          <a:xfrm rot="0">
            <a:off x="16585766" y="7556066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300" name="Combination"/>
          <p:cNvGrpSpPr>
            <a:grpSpLocks/>
          </p:cNvGrpSpPr>
          <p:nvPr/>
        </p:nvGrpSpPr>
        <p:grpSpPr>
          <a:xfrm>
            <a:off x="12319137" y="9258300"/>
            <a:ext cx="3911463" cy="3911462"/>
            <a:chOff x="12319137" y="9258300"/>
            <a:chExt cx="3911463" cy="3911462"/>
          </a:xfrm>
        </p:grpSpPr>
        <p:sp>
          <p:nvSpPr>
            <p:cNvPr id="298" name="曲线"/>
            <p:cNvSpPr>
              <a:spLocks/>
            </p:cNvSpPr>
            <p:nvPr/>
          </p:nvSpPr>
          <p:spPr>
            <a:xfrm rot="0">
              <a:off x="12319137" y="9258300"/>
              <a:ext cx="3911463" cy="391146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299" name="Rectangles"/>
            <p:cNvSpPr>
              <a:spLocks/>
            </p:cNvSpPr>
            <p:nvPr/>
          </p:nvSpPr>
          <p:spPr>
            <a:xfrm rot="0">
              <a:off x="12685838" y="9441650"/>
              <a:ext cx="3178063" cy="336141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301" name="曲线"/>
          <p:cNvSpPr>
            <a:spLocks/>
          </p:cNvSpPr>
          <p:nvPr/>
        </p:nvSpPr>
        <p:spPr>
          <a:xfrm rot="0">
            <a:off x="16998732" y="7969033"/>
            <a:ext cx="2578532" cy="2578532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302" name="曲线"/>
          <p:cNvSpPr>
            <a:spLocks/>
          </p:cNvSpPr>
          <p:nvPr/>
        </p:nvSpPr>
        <p:spPr>
          <a:xfrm rot="0">
            <a:off x="-1289267" y="-490829"/>
            <a:ext cx="2578533" cy="257853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305" name="Combination"/>
          <p:cNvGrpSpPr>
            <a:grpSpLocks/>
          </p:cNvGrpSpPr>
          <p:nvPr/>
        </p:nvGrpSpPr>
        <p:grpSpPr>
          <a:xfrm>
            <a:off x="2129385" y="-2859527"/>
            <a:ext cx="3911463" cy="3911463"/>
            <a:chOff x="2129385" y="-2859527"/>
            <a:chExt cx="3911463" cy="3911463"/>
          </a:xfrm>
        </p:grpSpPr>
        <p:sp>
          <p:nvSpPr>
            <p:cNvPr id="303" name="曲线"/>
            <p:cNvSpPr>
              <a:spLocks/>
            </p:cNvSpPr>
            <p:nvPr/>
          </p:nvSpPr>
          <p:spPr>
            <a:xfrm rot="0">
              <a:off x="2129385" y="-2859527"/>
              <a:ext cx="3911463" cy="391146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304" name="Rectangles"/>
            <p:cNvSpPr>
              <a:spLocks/>
            </p:cNvSpPr>
            <p:nvPr/>
          </p:nvSpPr>
          <p:spPr>
            <a:xfrm rot="0">
              <a:off x="2496084" y="-2676177"/>
              <a:ext cx="3178063" cy="336141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grpSp>
        <p:nvGrpSpPr>
          <p:cNvPr id="308" name="Combination"/>
          <p:cNvGrpSpPr>
            <a:grpSpLocks/>
          </p:cNvGrpSpPr>
          <p:nvPr/>
        </p:nvGrpSpPr>
        <p:grpSpPr>
          <a:xfrm>
            <a:off x="5778243" y="2015967"/>
            <a:ext cx="8323933" cy="1439146"/>
            <a:chOff x="5778243" y="2015967"/>
            <a:chExt cx="8323933" cy="1439146"/>
          </a:xfrm>
        </p:grpSpPr>
        <p:sp>
          <p:nvSpPr>
            <p:cNvPr id="306" name="曲线"/>
            <p:cNvSpPr>
              <a:spLocks/>
            </p:cNvSpPr>
            <p:nvPr/>
          </p:nvSpPr>
          <p:spPr>
            <a:xfrm rot="0">
              <a:off x="5778243" y="2087704"/>
              <a:ext cx="8323933" cy="13674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31" y="0"/>
                  </a:moveTo>
                  <a:lnTo>
                    <a:pt x="21368" y="0"/>
                  </a:lnTo>
                  <a:cubicBezTo>
                    <a:pt x="21496" y="0"/>
                    <a:pt x="21600" y="631"/>
                    <a:pt x="21600" y="1410"/>
                  </a:cubicBezTo>
                  <a:lnTo>
                    <a:pt x="21600" y="20189"/>
                  </a:lnTo>
                  <a:cubicBezTo>
                    <a:pt x="21600" y="20563"/>
                    <a:pt x="21575" y="20922"/>
                    <a:pt x="21532" y="21186"/>
                  </a:cubicBezTo>
                  <a:cubicBezTo>
                    <a:pt x="21488" y="21451"/>
                    <a:pt x="21429" y="21600"/>
                    <a:pt x="21368" y="21600"/>
                  </a:cubicBezTo>
                  <a:lnTo>
                    <a:pt x="231" y="21600"/>
                  </a:lnTo>
                  <a:cubicBezTo>
                    <a:pt x="103" y="21600"/>
                    <a:pt x="0" y="20968"/>
                    <a:pt x="0" y="20189"/>
                  </a:cubicBezTo>
                  <a:lnTo>
                    <a:pt x="0" y="1410"/>
                  </a:lnTo>
                  <a:cubicBezTo>
                    <a:pt x="0" y="631"/>
                    <a:pt x="103" y="0"/>
                    <a:pt x="2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07" name="Rectangles"/>
            <p:cNvSpPr>
              <a:spLocks/>
            </p:cNvSpPr>
            <p:nvPr/>
          </p:nvSpPr>
          <p:spPr>
            <a:xfrm rot="0">
              <a:off x="5778243" y="2015967"/>
              <a:ext cx="8323933" cy="1439146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309" name="Rectangles"/>
          <p:cNvSpPr>
            <a:spLocks/>
          </p:cNvSpPr>
          <p:nvPr/>
        </p:nvSpPr>
        <p:spPr>
          <a:xfrm rot="0">
            <a:off x="6323935" y="2311126"/>
            <a:ext cx="7525309" cy="9207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38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60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State Estimation</a:t>
            </a:r>
            <a:endParaRPr lang="en-US" altLang="zh-CN" sz="2760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marL="0" indent="0" algn="just">
              <a:lnSpc>
                <a:spcPts val="33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17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 Kalman filters, observers, or neural state estimators</a:t>
            </a:r>
            <a:endParaRPr lang="zh-CN" altLang="en-US" sz="2417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</p:txBody>
      </p:sp>
      <p:grpSp>
        <p:nvGrpSpPr>
          <p:cNvPr id="312" name="Combination"/>
          <p:cNvGrpSpPr>
            <a:grpSpLocks/>
          </p:cNvGrpSpPr>
          <p:nvPr/>
        </p:nvGrpSpPr>
        <p:grpSpPr>
          <a:xfrm>
            <a:off x="2633025" y="2015967"/>
            <a:ext cx="2528860" cy="1439146"/>
            <a:chOff x="2633025" y="2015967"/>
            <a:chExt cx="2528860" cy="1439146"/>
          </a:xfrm>
        </p:grpSpPr>
        <p:sp>
          <p:nvSpPr>
            <p:cNvPr id="310" name="曲线"/>
            <p:cNvSpPr>
              <a:spLocks/>
            </p:cNvSpPr>
            <p:nvPr/>
          </p:nvSpPr>
          <p:spPr>
            <a:xfrm rot="0">
              <a:off x="2633025" y="2087704"/>
              <a:ext cx="2528860" cy="13674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510" y="0"/>
                  </a:moveTo>
                  <a:lnTo>
                    <a:pt x="19089" y="0"/>
                  </a:lnTo>
                  <a:cubicBezTo>
                    <a:pt x="20475" y="0"/>
                    <a:pt x="21600" y="2079"/>
                    <a:pt x="21600" y="4643"/>
                  </a:cubicBezTo>
                  <a:lnTo>
                    <a:pt x="21600" y="16956"/>
                  </a:lnTo>
                  <a:cubicBezTo>
                    <a:pt x="21600" y="18187"/>
                    <a:pt x="21335" y="19369"/>
                    <a:pt x="20864" y="20239"/>
                  </a:cubicBezTo>
                  <a:cubicBezTo>
                    <a:pt x="20393" y="21110"/>
                    <a:pt x="19754" y="21600"/>
                    <a:pt x="19089" y="21600"/>
                  </a:cubicBezTo>
                  <a:lnTo>
                    <a:pt x="2510" y="21600"/>
                  </a:lnTo>
                  <a:cubicBezTo>
                    <a:pt x="1845" y="21600"/>
                    <a:pt x="1206" y="21110"/>
                    <a:pt x="735" y="20239"/>
                  </a:cubicBezTo>
                  <a:cubicBezTo>
                    <a:pt x="264" y="19369"/>
                    <a:pt x="0" y="18187"/>
                    <a:pt x="0" y="16956"/>
                  </a:cubicBezTo>
                  <a:lnTo>
                    <a:pt x="0" y="4643"/>
                  </a:lnTo>
                  <a:cubicBezTo>
                    <a:pt x="0" y="3412"/>
                    <a:pt x="264" y="2230"/>
                    <a:pt x="735" y="1360"/>
                  </a:cubicBezTo>
                  <a:cubicBezTo>
                    <a:pt x="1206" y="489"/>
                    <a:pt x="1845" y="0"/>
                    <a:pt x="25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11" name="Rectangles"/>
            <p:cNvSpPr>
              <a:spLocks/>
            </p:cNvSpPr>
            <p:nvPr/>
          </p:nvSpPr>
          <p:spPr>
            <a:xfrm rot="0">
              <a:off x="2633025" y="2015967"/>
              <a:ext cx="2528860" cy="1439146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313" name="Rectangles"/>
          <p:cNvSpPr>
            <a:spLocks/>
          </p:cNvSpPr>
          <p:nvPr/>
        </p:nvSpPr>
        <p:spPr>
          <a:xfrm rot="0">
            <a:off x="2865922" y="2364248"/>
            <a:ext cx="2063066" cy="7934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62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63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STEP1</a:t>
            </a:r>
            <a:endParaRPr lang="zh-CN" altLang="en-US" sz="4463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grpSp>
        <p:nvGrpSpPr>
          <p:cNvPr id="316" name="Combination"/>
          <p:cNvGrpSpPr>
            <a:grpSpLocks/>
          </p:cNvGrpSpPr>
          <p:nvPr/>
        </p:nvGrpSpPr>
        <p:grpSpPr>
          <a:xfrm>
            <a:off x="5778243" y="3566071"/>
            <a:ext cx="8323933" cy="1439146"/>
            <a:chOff x="5778243" y="3566071"/>
            <a:chExt cx="8323933" cy="1439146"/>
          </a:xfrm>
        </p:grpSpPr>
        <p:sp>
          <p:nvSpPr>
            <p:cNvPr id="314" name="曲线"/>
            <p:cNvSpPr>
              <a:spLocks/>
            </p:cNvSpPr>
            <p:nvPr/>
          </p:nvSpPr>
          <p:spPr>
            <a:xfrm rot="0">
              <a:off x="5778243" y="3637808"/>
              <a:ext cx="8323933" cy="13674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31" y="0"/>
                  </a:moveTo>
                  <a:lnTo>
                    <a:pt x="21368" y="0"/>
                  </a:lnTo>
                  <a:cubicBezTo>
                    <a:pt x="21496" y="0"/>
                    <a:pt x="21600" y="631"/>
                    <a:pt x="21600" y="1410"/>
                  </a:cubicBezTo>
                  <a:lnTo>
                    <a:pt x="21600" y="20189"/>
                  </a:lnTo>
                  <a:cubicBezTo>
                    <a:pt x="21600" y="20563"/>
                    <a:pt x="21575" y="20922"/>
                    <a:pt x="21532" y="21186"/>
                  </a:cubicBezTo>
                  <a:cubicBezTo>
                    <a:pt x="21488" y="21451"/>
                    <a:pt x="21429" y="21600"/>
                    <a:pt x="21368" y="21600"/>
                  </a:cubicBezTo>
                  <a:lnTo>
                    <a:pt x="231" y="21600"/>
                  </a:lnTo>
                  <a:cubicBezTo>
                    <a:pt x="103" y="21600"/>
                    <a:pt x="0" y="20968"/>
                    <a:pt x="0" y="20189"/>
                  </a:cubicBezTo>
                  <a:lnTo>
                    <a:pt x="0" y="1410"/>
                  </a:lnTo>
                  <a:cubicBezTo>
                    <a:pt x="0" y="631"/>
                    <a:pt x="103" y="0"/>
                    <a:pt x="2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15" name="Rectangles"/>
            <p:cNvSpPr>
              <a:spLocks/>
            </p:cNvSpPr>
            <p:nvPr/>
          </p:nvSpPr>
          <p:spPr>
            <a:xfrm rot="0">
              <a:off x="5778243" y="3566071"/>
              <a:ext cx="8323933" cy="1439146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317" name="Rectangles"/>
          <p:cNvSpPr>
            <a:spLocks/>
          </p:cNvSpPr>
          <p:nvPr/>
        </p:nvSpPr>
        <p:spPr>
          <a:xfrm rot="0">
            <a:off x="6323935" y="3769174"/>
            <a:ext cx="7525309" cy="8740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3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79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 Model Estimation or Approximation</a:t>
            </a:r>
            <a:endParaRPr lang="en-US" altLang="zh-CN" sz="2579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marL="0" indent="0" algn="just">
              <a:lnSpc>
                <a:spcPts val="32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36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  NN/Gaussian Process/System-ID</a:t>
            </a:r>
            <a:endParaRPr lang="zh-CN" altLang="en-US" sz="2336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</p:txBody>
      </p:sp>
      <p:grpSp>
        <p:nvGrpSpPr>
          <p:cNvPr id="320" name="Combination"/>
          <p:cNvGrpSpPr>
            <a:grpSpLocks/>
          </p:cNvGrpSpPr>
          <p:nvPr/>
        </p:nvGrpSpPr>
        <p:grpSpPr>
          <a:xfrm>
            <a:off x="2633025" y="3566071"/>
            <a:ext cx="2528860" cy="1439146"/>
            <a:chOff x="2633025" y="3566071"/>
            <a:chExt cx="2528860" cy="1439146"/>
          </a:xfrm>
        </p:grpSpPr>
        <p:sp>
          <p:nvSpPr>
            <p:cNvPr id="318" name="曲线"/>
            <p:cNvSpPr>
              <a:spLocks/>
            </p:cNvSpPr>
            <p:nvPr/>
          </p:nvSpPr>
          <p:spPr>
            <a:xfrm rot="0">
              <a:off x="2633025" y="3637808"/>
              <a:ext cx="2528860" cy="13674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510" y="0"/>
                  </a:moveTo>
                  <a:lnTo>
                    <a:pt x="19089" y="0"/>
                  </a:lnTo>
                  <a:cubicBezTo>
                    <a:pt x="20475" y="0"/>
                    <a:pt x="21600" y="2079"/>
                    <a:pt x="21600" y="4643"/>
                  </a:cubicBezTo>
                  <a:lnTo>
                    <a:pt x="21600" y="16956"/>
                  </a:lnTo>
                  <a:cubicBezTo>
                    <a:pt x="21600" y="18187"/>
                    <a:pt x="21335" y="19369"/>
                    <a:pt x="20864" y="20239"/>
                  </a:cubicBezTo>
                  <a:cubicBezTo>
                    <a:pt x="20393" y="21110"/>
                    <a:pt x="19754" y="21600"/>
                    <a:pt x="19089" y="21600"/>
                  </a:cubicBezTo>
                  <a:lnTo>
                    <a:pt x="2510" y="21600"/>
                  </a:lnTo>
                  <a:cubicBezTo>
                    <a:pt x="1845" y="21600"/>
                    <a:pt x="1206" y="21110"/>
                    <a:pt x="735" y="20239"/>
                  </a:cubicBezTo>
                  <a:cubicBezTo>
                    <a:pt x="264" y="19369"/>
                    <a:pt x="0" y="18187"/>
                    <a:pt x="0" y="16956"/>
                  </a:cubicBezTo>
                  <a:lnTo>
                    <a:pt x="0" y="4643"/>
                  </a:lnTo>
                  <a:cubicBezTo>
                    <a:pt x="0" y="3412"/>
                    <a:pt x="264" y="2230"/>
                    <a:pt x="735" y="1360"/>
                  </a:cubicBezTo>
                  <a:cubicBezTo>
                    <a:pt x="1206" y="489"/>
                    <a:pt x="1845" y="0"/>
                    <a:pt x="25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19" name="Rectangles"/>
            <p:cNvSpPr>
              <a:spLocks/>
            </p:cNvSpPr>
            <p:nvPr/>
          </p:nvSpPr>
          <p:spPr>
            <a:xfrm rot="0">
              <a:off x="2633025" y="3566071"/>
              <a:ext cx="2528860" cy="1439146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grpSp>
        <p:nvGrpSpPr>
          <p:cNvPr id="323" name="Combination"/>
          <p:cNvGrpSpPr>
            <a:grpSpLocks/>
          </p:cNvGrpSpPr>
          <p:nvPr/>
        </p:nvGrpSpPr>
        <p:grpSpPr>
          <a:xfrm>
            <a:off x="5778243" y="5113496"/>
            <a:ext cx="8323933" cy="1439147"/>
            <a:chOff x="5778243" y="5113496"/>
            <a:chExt cx="8323933" cy="1439147"/>
          </a:xfrm>
        </p:grpSpPr>
        <p:sp>
          <p:nvSpPr>
            <p:cNvPr id="321" name="曲线"/>
            <p:cNvSpPr>
              <a:spLocks/>
            </p:cNvSpPr>
            <p:nvPr/>
          </p:nvSpPr>
          <p:spPr>
            <a:xfrm rot="0">
              <a:off x="5778243" y="5185233"/>
              <a:ext cx="8323933" cy="13674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31" y="0"/>
                  </a:moveTo>
                  <a:lnTo>
                    <a:pt x="21368" y="0"/>
                  </a:lnTo>
                  <a:cubicBezTo>
                    <a:pt x="21496" y="0"/>
                    <a:pt x="21600" y="631"/>
                    <a:pt x="21600" y="1410"/>
                  </a:cubicBezTo>
                  <a:lnTo>
                    <a:pt x="21600" y="20189"/>
                  </a:lnTo>
                  <a:cubicBezTo>
                    <a:pt x="21600" y="20563"/>
                    <a:pt x="21575" y="20922"/>
                    <a:pt x="21532" y="21186"/>
                  </a:cubicBezTo>
                  <a:cubicBezTo>
                    <a:pt x="21488" y="21451"/>
                    <a:pt x="21429" y="21600"/>
                    <a:pt x="21368" y="21600"/>
                  </a:cubicBezTo>
                  <a:lnTo>
                    <a:pt x="231" y="21600"/>
                  </a:lnTo>
                  <a:cubicBezTo>
                    <a:pt x="103" y="21600"/>
                    <a:pt x="0" y="20968"/>
                    <a:pt x="0" y="20189"/>
                  </a:cubicBezTo>
                  <a:lnTo>
                    <a:pt x="0" y="1410"/>
                  </a:lnTo>
                  <a:cubicBezTo>
                    <a:pt x="0" y="631"/>
                    <a:pt x="103" y="0"/>
                    <a:pt x="2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22" name="Rectangles"/>
            <p:cNvSpPr>
              <a:spLocks/>
            </p:cNvSpPr>
            <p:nvPr/>
          </p:nvSpPr>
          <p:spPr>
            <a:xfrm rot="0">
              <a:off x="5778243" y="5113496"/>
              <a:ext cx="8323933" cy="1439147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324" name="Rectangles"/>
          <p:cNvSpPr>
            <a:spLocks/>
          </p:cNvSpPr>
          <p:nvPr/>
        </p:nvSpPr>
        <p:spPr>
          <a:xfrm rot="0">
            <a:off x="6323935" y="5329530"/>
            <a:ext cx="7525309" cy="9450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38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79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Adaptive Law Update</a:t>
            </a:r>
            <a:endParaRPr lang="en-US" altLang="zh-CN" sz="2779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marL="0" indent="0" algn="just">
              <a:lnSpc>
                <a:spcPts val="3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36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 Lyapunov-based or gradient-based</a:t>
            </a:r>
            <a:endParaRPr lang="zh-CN" altLang="en-US" sz="2536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</p:txBody>
      </p:sp>
      <p:grpSp>
        <p:nvGrpSpPr>
          <p:cNvPr id="327" name="Combination"/>
          <p:cNvGrpSpPr>
            <a:grpSpLocks/>
          </p:cNvGrpSpPr>
          <p:nvPr/>
        </p:nvGrpSpPr>
        <p:grpSpPr>
          <a:xfrm>
            <a:off x="2633025" y="5113496"/>
            <a:ext cx="2528860" cy="1439147"/>
            <a:chOff x="2633025" y="5113496"/>
            <a:chExt cx="2528860" cy="1439147"/>
          </a:xfrm>
        </p:grpSpPr>
        <p:sp>
          <p:nvSpPr>
            <p:cNvPr id="325" name="曲线"/>
            <p:cNvSpPr>
              <a:spLocks/>
            </p:cNvSpPr>
            <p:nvPr/>
          </p:nvSpPr>
          <p:spPr>
            <a:xfrm rot="0">
              <a:off x="2633025" y="5185233"/>
              <a:ext cx="2528860" cy="13674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510" y="0"/>
                  </a:moveTo>
                  <a:lnTo>
                    <a:pt x="19089" y="0"/>
                  </a:lnTo>
                  <a:cubicBezTo>
                    <a:pt x="20475" y="0"/>
                    <a:pt x="21600" y="2079"/>
                    <a:pt x="21600" y="4643"/>
                  </a:cubicBezTo>
                  <a:lnTo>
                    <a:pt x="21600" y="16956"/>
                  </a:lnTo>
                  <a:cubicBezTo>
                    <a:pt x="21600" y="18187"/>
                    <a:pt x="21335" y="19369"/>
                    <a:pt x="20864" y="20239"/>
                  </a:cubicBezTo>
                  <a:cubicBezTo>
                    <a:pt x="20393" y="21110"/>
                    <a:pt x="19754" y="21600"/>
                    <a:pt x="19089" y="21600"/>
                  </a:cubicBezTo>
                  <a:lnTo>
                    <a:pt x="2510" y="21600"/>
                  </a:lnTo>
                  <a:cubicBezTo>
                    <a:pt x="1845" y="21600"/>
                    <a:pt x="1206" y="21110"/>
                    <a:pt x="735" y="20239"/>
                  </a:cubicBezTo>
                  <a:cubicBezTo>
                    <a:pt x="264" y="19369"/>
                    <a:pt x="0" y="18187"/>
                    <a:pt x="0" y="16956"/>
                  </a:cubicBezTo>
                  <a:lnTo>
                    <a:pt x="0" y="4643"/>
                  </a:lnTo>
                  <a:cubicBezTo>
                    <a:pt x="0" y="3412"/>
                    <a:pt x="264" y="2230"/>
                    <a:pt x="735" y="1360"/>
                  </a:cubicBezTo>
                  <a:cubicBezTo>
                    <a:pt x="1206" y="489"/>
                    <a:pt x="1845" y="0"/>
                    <a:pt x="25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26" name="Rectangles"/>
            <p:cNvSpPr>
              <a:spLocks/>
            </p:cNvSpPr>
            <p:nvPr/>
          </p:nvSpPr>
          <p:spPr>
            <a:xfrm rot="0">
              <a:off x="2633025" y="5113496"/>
              <a:ext cx="2528860" cy="1439147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grpSp>
        <p:nvGrpSpPr>
          <p:cNvPr id="330" name="Combination"/>
          <p:cNvGrpSpPr>
            <a:grpSpLocks/>
          </p:cNvGrpSpPr>
          <p:nvPr/>
        </p:nvGrpSpPr>
        <p:grpSpPr>
          <a:xfrm>
            <a:off x="5778243" y="6663600"/>
            <a:ext cx="8323933" cy="1439147"/>
            <a:chOff x="5778243" y="6663600"/>
            <a:chExt cx="8323933" cy="1439147"/>
          </a:xfrm>
        </p:grpSpPr>
        <p:sp>
          <p:nvSpPr>
            <p:cNvPr id="328" name="曲线"/>
            <p:cNvSpPr>
              <a:spLocks/>
            </p:cNvSpPr>
            <p:nvPr/>
          </p:nvSpPr>
          <p:spPr>
            <a:xfrm rot="0">
              <a:off x="5778243" y="6735337"/>
              <a:ext cx="8323933" cy="13674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31" y="0"/>
                  </a:moveTo>
                  <a:lnTo>
                    <a:pt x="21368" y="0"/>
                  </a:lnTo>
                  <a:cubicBezTo>
                    <a:pt x="21496" y="0"/>
                    <a:pt x="21600" y="631"/>
                    <a:pt x="21600" y="1410"/>
                  </a:cubicBezTo>
                  <a:lnTo>
                    <a:pt x="21600" y="20189"/>
                  </a:lnTo>
                  <a:cubicBezTo>
                    <a:pt x="21600" y="20563"/>
                    <a:pt x="21575" y="20922"/>
                    <a:pt x="21532" y="21186"/>
                  </a:cubicBezTo>
                  <a:cubicBezTo>
                    <a:pt x="21488" y="21451"/>
                    <a:pt x="21429" y="21600"/>
                    <a:pt x="21368" y="21600"/>
                  </a:cubicBezTo>
                  <a:lnTo>
                    <a:pt x="231" y="21600"/>
                  </a:lnTo>
                  <a:cubicBezTo>
                    <a:pt x="103" y="21600"/>
                    <a:pt x="0" y="20968"/>
                    <a:pt x="0" y="20189"/>
                  </a:cubicBezTo>
                  <a:lnTo>
                    <a:pt x="0" y="1410"/>
                  </a:lnTo>
                  <a:cubicBezTo>
                    <a:pt x="0" y="631"/>
                    <a:pt x="103" y="0"/>
                    <a:pt x="2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29" name="Rectangles"/>
            <p:cNvSpPr>
              <a:spLocks/>
            </p:cNvSpPr>
            <p:nvPr/>
          </p:nvSpPr>
          <p:spPr>
            <a:xfrm rot="0">
              <a:off x="5778243" y="6663600"/>
              <a:ext cx="8323933" cy="1439147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331" name="Rectangles"/>
          <p:cNvSpPr>
            <a:spLocks/>
          </p:cNvSpPr>
          <p:nvPr/>
        </p:nvSpPr>
        <p:spPr>
          <a:xfrm rot="0">
            <a:off x="6323935" y="6894471"/>
            <a:ext cx="7525309" cy="9164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37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98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Control Policy Adjustment</a:t>
            </a:r>
            <a:endParaRPr lang="en-US" altLang="zh-CN" sz="2698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marL="0" indent="0" algn="just">
              <a:lnSpc>
                <a:spcPts val="34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55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 Feedback + adaptive term + learned model</a:t>
            </a:r>
            <a:endParaRPr lang="zh-CN" altLang="en-US" sz="2455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</p:txBody>
      </p:sp>
      <p:grpSp>
        <p:nvGrpSpPr>
          <p:cNvPr id="334" name="Combination"/>
          <p:cNvGrpSpPr>
            <a:grpSpLocks/>
          </p:cNvGrpSpPr>
          <p:nvPr/>
        </p:nvGrpSpPr>
        <p:grpSpPr>
          <a:xfrm>
            <a:off x="2633025" y="6663600"/>
            <a:ext cx="2528860" cy="1439147"/>
            <a:chOff x="2633025" y="6663600"/>
            <a:chExt cx="2528860" cy="1439147"/>
          </a:xfrm>
        </p:grpSpPr>
        <p:sp>
          <p:nvSpPr>
            <p:cNvPr id="332" name="曲线"/>
            <p:cNvSpPr>
              <a:spLocks/>
            </p:cNvSpPr>
            <p:nvPr/>
          </p:nvSpPr>
          <p:spPr>
            <a:xfrm rot="0">
              <a:off x="2633025" y="6735337"/>
              <a:ext cx="2528860" cy="13674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510" y="0"/>
                  </a:moveTo>
                  <a:lnTo>
                    <a:pt x="19089" y="0"/>
                  </a:lnTo>
                  <a:cubicBezTo>
                    <a:pt x="20475" y="0"/>
                    <a:pt x="21600" y="2079"/>
                    <a:pt x="21600" y="4643"/>
                  </a:cubicBezTo>
                  <a:lnTo>
                    <a:pt x="21600" y="16956"/>
                  </a:lnTo>
                  <a:cubicBezTo>
                    <a:pt x="21600" y="18187"/>
                    <a:pt x="21335" y="19369"/>
                    <a:pt x="20864" y="20239"/>
                  </a:cubicBezTo>
                  <a:cubicBezTo>
                    <a:pt x="20393" y="21110"/>
                    <a:pt x="19754" y="21600"/>
                    <a:pt x="19089" y="21600"/>
                  </a:cubicBezTo>
                  <a:lnTo>
                    <a:pt x="2510" y="21600"/>
                  </a:lnTo>
                  <a:cubicBezTo>
                    <a:pt x="1845" y="21600"/>
                    <a:pt x="1206" y="21110"/>
                    <a:pt x="735" y="20239"/>
                  </a:cubicBezTo>
                  <a:cubicBezTo>
                    <a:pt x="264" y="19369"/>
                    <a:pt x="0" y="18187"/>
                    <a:pt x="0" y="16956"/>
                  </a:cubicBezTo>
                  <a:lnTo>
                    <a:pt x="0" y="4643"/>
                  </a:lnTo>
                  <a:cubicBezTo>
                    <a:pt x="0" y="3412"/>
                    <a:pt x="264" y="2230"/>
                    <a:pt x="735" y="1360"/>
                  </a:cubicBezTo>
                  <a:cubicBezTo>
                    <a:pt x="1206" y="489"/>
                    <a:pt x="1845" y="0"/>
                    <a:pt x="25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33" name="Rectangles"/>
            <p:cNvSpPr>
              <a:spLocks/>
            </p:cNvSpPr>
            <p:nvPr/>
          </p:nvSpPr>
          <p:spPr>
            <a:xfrm rot="0">
              <a:off x="2633025" y="6663600"/>
              <a:ext cx="2528860" cy="1439147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335" name="Rectangles"/>
          <p:cNvSpPr>
            <a:spLocks/>
          </p:cNvSpPr>
          <p:nvPr/>
        </p:nvSpPr>
        <p:spPr>
          <a:xfrm rot="0">
            <a:off x="5161885" y="108928"/>
            <a:ext cx="10754601" cy="16355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64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599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ADAPTIVE CONTROL ALGORITHM (PROFESSIONAL FLOW)</a:t>
            </a:r>
            <a:endParaRPr lang="zh-CN" altLang="en-US" sz="4599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sp>
        <p:nvSpPr>
          <p:cNvPr id="336" name="Rectangles"/>
          <p:cNvSpPr>
            <a:spLocks/>
          </p:cNvSpPr>
          <p:nvPr/>
        </p:nvSpPr>
        <p:spPr>
          <a:xfrm rot="0">
            <a:off x="2865922" y="3903890"/>
            <a:ext cx="2063066" cy="79349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62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63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STEP2</a:t>
            </a:r>
            <a:endParaRPr lang="zh-CN" altLang="en-US" sz="4463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sp>
        <p:nvSpPr>
          <p:cNvPr id="337" name="Rectangles"/>
          <p:cNvSpPr>
            <a:spLocks/>
          </p:cNvSpPr>
          <p:nvPr/>
        </p:nvSpPr>
        <p:spPr>
          <a:xfrm rot="0">
            <a:off x="2865922" y="7002759"/>
            <a:ext cx="2063066" cy="79349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62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63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STEP4</a:t>
            </a:r>
            <a:endParaRPr lang="zh-CN" altLang="en-US" sz="4463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sp>
        <p:nvSpPr>
          <p:cNvPr id="338" name="Rectangles"/>
          <p:cNvSpPr>
            <a:spLocks/>
          </p:cNvSpPr>
          <p:nvPr/>
        </p:nvSpPr>
        <p:spPr>
          <a:xfrm rot="0">
            <a:off x="2865922" y="5452655"/>
            <a:ext cx="2063066" cy="79349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62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63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STEP3</a:t>
            </a:r>
            <a:endParaRPr lang="zh-CN" altLang="en-US" sz="4463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grpSp>
        <p:nvGrpSpPr>
          <p:cNvPr id="341" name="Combination"/>
          <p:cNvGrpSpPr>
            <a:grpSpLocks/>
          </p:cNvGrpSpPr>
          <p:nvPr/>
        </p:nvGrpSpPr>
        <p:grpSpPr>
          <a:xfrm>
            <a:off x="5778243" y="8211985"/>
            <a:ext cx="8323933" cy="1439147"/>
            <a:chOff x="5778243" y="8211985"/>
            <a:chExt cx="8323933" cy="1439147"/>
          </a:xfrm>
        </p:grpSpPr>
        <p:sp>
          <p:nvSpPr>
            <p:cNvPr id="339" name="曲线"/>
            <p:cNvSpPr>
              <a:spLocks/>
            </p:cNvSpPr>
            <p:nvPr/>
          </p:nvSpPr>
          <p:spPr>
            <a:xfrm rot="0">
              <a:off x="5778243" y="8283722"/>
              <a:ext cx="8323933" cy="13674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31" y="0"/>
                  </a:moveTo>
                  <a:lnTo>
                    <a:pt x="21368" y="0"/>
                  </a:lnTo>
                  <a:cubicBezTo>
                    <a:pt x="21496" y="0"/>
                    <a:pt x="21600" y="631"/>
                    <a:pt x="21600" y="1410"/>
                  </a:cubicBezTo>
                  <a:lnTo>
                    <a:pt x="21600" y="20189"/>
                  </a:lnTo>
                  <a:cubicBezTo>
                    <a:pt x="21600" y="20563"/>
                    <a:pt x="21575" y="20922"/>
                    <a:pt x="21532" y="21186"/>
                  </a:cubicBezTo>
                  <a:cubicBezTo>
                    <a:pt x="21488" y="21451"/>
                    <a:pt x="21429" y="21600"/>
                    <a:pt x="21368" y="21600"/>
                  </a:cubicBezTo>
                  <a:lnTo>
                    <a:pt x="231" y="21600"/>
                  </a:lnTo>
                  <a:cubicBezTo>
                    <a:pt x="103" y="21600"/>
                    <a:pt x="0" y="20968"/>
                    <a:pt x="0" y="20189"/>
                  </a:cubicBezTo>
                  <a:lnTo>
                    <a:pt x="0" y="1410"/>
                  </a:lnTo>
                  <a:cubicBezTo>
                    <a:pt x="0" y="631"/>
                    <a:pt x="103" y="0"/>
                    <a:pt x="2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40" name="Rectangles"/>
            <p:cNvSpPr>
              <a:spLocks/>
            </p:cNvSpPr>
            <p:nvPr/>
          </p:nvSpPr>
          <p:spPr>
            <a:xfrm rot="0">
              <a:off x="5778243" y="8211985"/>
              <a:ext cx="8323933" cy="1439147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342" name="Rectangles"/>
          <p:cNvSpPr>
            <a:spLocks/>
          </p:cNvSpPr>
          <p:nvPr/>
        </p:nvSpPr>
        <p:spPr>
          <a:xfrm rot="0">
            <a:off x="6323935" y="8530129"/>
            <a:ext cx="7525309" cy="9164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37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98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Real-Time Execution</a:t>
            </a:r>
            <a:endParaRPr lang="en-US" altLang="zh-CN" sz="2698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marL="0" indent="0" algn="just">
              <a:lnSpc>
                <a:spcPts val="34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55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 Iteration at 100–2000 Hz depending on system</a:t>
            </a:r>
            <a:endParaRPr lang="zh-CN" altLang="en-US" sz="2455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</p:txBody>
      </p:sp>
      <p:grpSp>
        <p:nvGrpSpPr>
          <p:cNvPr id="345" name="Combination"/>
          <p:cNvGrpSpPr>
            <a:grpSpLocks/>
          </p:cNvGrpSpPr>
          <p:nvPr/>
        </p:nvGrpSpPr>
        <p:grpSpPr>
          <a:xfrm>
            <a:off x="2633025" y="8211985"/>
            <a:ext cx="2528860" cy="1439147"/>
            <a:chOff x="2633025" y="8211985"/>
            <a:chExt cx="2528860" cy="1439147"/>
          </a:xfrm>
        </p:grpSpPr>
        <p:sp>
          <p:nvSpPr>
            <p:cNvPr id="343" name="曲线"/>
            <p:cNvSpPr>
              <a:spLocks/>
            </p:cNvSpPr>
            <p:nvPr/>
          </p:nvSpPr>
          <p:spPr>
            <a:xfrm rot="0">
              <a:off x="2633025" y="8283722"/>
              <a:ext cx="2528860" cy="13674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510" y="0"/>
                  </a:moveTo>
                  <a:lnTo>
                    <a:pt x="19089" y="0"/>
                  </a:lnTo>
                  <a:cubicBezTo>
                    <a:pt x="20475" y="0"/>
                    <a:pt x="21600" y="2079"/>
                    <a:pt x="21600" y="4643"/>
                  </a:cubicBezTo>
                  <a:lnTo>
                    <a:pt x="21600" y="16956"/>
                  </a:lnTo>
                  <a:cubicBezTo>
                    <a:pt x="21600" y="18187"/>
                    <a:pt x="21335" y="19369"/>
                    <a:pt x="20864" y="20239"/>
                  </a:cubicBezTo>
                  <a:cubicBezTo>
                    <a:pt x="20393" y="21110"/>
                    <a:pt x="19754" y="21600"/>
                    <a:pt x="19089" y="21600"/>
                  </a:cubicBezTo>
                  <a:lnTo>
                    <a:pt x="2510" y="21600"/>
                  </a:lnTo>
                  <a:cubicBezTo>
                    <a:pt x="1845" y="21600"/>
                    <a:pt x="1206" y="21110"/>
                    <a:pt x="735" y="20239"/>
                  </a:cubicBezTo>
                  <a:cubicBezTo>
                    <a:pt x="264" y="19369"/>
                    <a:pt x="0" y="18187"/>
                    <a:pt x="0" y="16956"/>
                  </a:cubicBezTo>
                  <a:lnTo>
                    <a:pt x="0" y="4643"/>
                  </a:lnTo>
                  <a:cubicBezTo>
                    <a:pt x="0" y="3412"/>
                    <a:pt x="264" y="2230"/>
                    <a:pt x="735" y="1360"/>
                  </a:cubicBezTo>
                  <a:cubicBezTo>
                    <a:pt x="1206" y="489"/>
                    <a:pt x="1845" y="0"/>
                    <a:pt x="25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mpd="sng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44" name="Rectangles"/>
            <p:cNvSpPr>
              <a:spLocks/>
            </p:cNvSpPr>
            <p:nvPr/>
          </p:nvSpPr>
          <p:spPr>
            <a:xfrm rot="0">
              <a:off x="2633025" y="8211985"/>
              <a:ext cx="2528860" cy="1439147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346" name="Rectangles"/>
          <p:cNvSpPr>
            <a:spLocks/>
          </p:cNvSpPr>
          <p:nvPr/>
        </p:nvSpPr>
        <p:spPr>
          <a:xfrm rot="0">
            <a:off x="2865922" y="8551144"/>
            <a:ext cx="2063066" cy="79349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62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63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STEP5</a:t>
            </a:r>
            <a:endParaRPr lang="zh-CN" altLang="en-US" sz="4463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624747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曲线"/>
          <p:cNvSpPr>
            <a:spLocks/>
          </p:cNvSpPr>
          <p:nvPr/>
        </p:nvSpPr>
        <p:spPr>
          <a:xfrm rot="0">
            <a:off x="-2057400" y="-1258963"/>
            <a:ext cx="4114800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348" name="曲线"/>
          <p:cNvSpPr>
            <a:spLocks/>
          </p:cNvSpPr>
          <p:nvPr/>
        </p:nvSpPr>
        <p:spPr>
          <a:xfrm rot="0">
            <a:off x="-1702233" y="-903795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349" name="曲线"/>
          <p:cNvSpPr>
            <a:spLocks/>
          </p:cNvSpPr>
          <p:nvPr/>
        </p:nvSpPr>
        <p:spPr>
          <a:xfrm rot="0">
            <a:off x="16230600" y="7200900"/>
            <a:ext cx="4114798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350" name="曲线"/>
          <p:cNvSpPr>
            <a:spLocks/>
          </p:cNvSpPr>
          <p:nvPr/>
        </p:nvSpPr>
        <p:spPr>
          <a:xfrm rot="0">
            <a:off x="16585766" y="7556066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353" name="Combination"/>
          <p:cNvGrpSpPr>
            <a:grpSpLocks/>
          </p:cNvGrpSpPr>
          <p:nvPr/>
        </p:nvGrpSpPr>
        <p:grpSpPr>
          <a:xfrm>
            <a:off x="12319137" y="9258300"/>
            <a:ext cx="3911463" cy="3911462"/>
            <a:chOff x="12319137" y="9258300"/>
            <a:chExt cx="3911463" cy="3911462"/>
          </a:xfrm>
        </p:grpSpPr>
        <p:sp>
          <p:nvSpPr>
            <p:cNvPr id="351" name="曲线"/>
            <p:cNvSpPr>
              <a:spLocks/>
            </p:cNvSpPr>
            <p:nvPr/>
          </p:nvSpPr>
          <p:spPr>
            <a:xfrm rot="0">
              <a:off x="12319137" y="9258300"/>
              <a:ext cx="3911463" cy="391146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352" name="Rectangles"/>
            <p:cNvSpPr>
              <a:spLocks/>
            </p:cNvSpPr>
            <p:nvPr/>
          </p:nvSpPr>
          <p:spPr>
            <a:xfrm rot="0">
              <a:off x="12685838" y="9441650"/>
              <a:ext cx="3178063" cy="336141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354" name="曲线"/>
          <p:cNvSpPr>
            <a:spLocks/>
          </p:cNvSpPr>
          <p:nvPr/>
        </p:nvSpPr>
        <p:spPr>
          <a:xfrm rot="0">
            <a:off x="16998732" y="7969033"/>
            <a:ext cx="2578532" cy="2578532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355" name="曲线"/>
          <p:cNvSpPr>
            <a:spLocks/>
          </p:cNvSpPr>
          <p:nvPr/>
        </p:nvSpPr>
        <p:spPr>
          <a:xfrm rot="0">
            <a:off x="-1289267" y="-490829"/>
            <a:ext cx="2578533" cy="257853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358" name="Combination"/>
          <p:cNvGrpSpPr>
            <a:grpSpLocks/>
          </p:cNvGrpSpPr>
          <p:nvPr/>
        </p:nvGrpSpPr>
        <p:grpSpPr>
          <a:xfrm>
            <a:off x="2129385" y="-2859527"/>
            <a:ext cx="3911463" cy="3911463"/>
            <a:chOff x="2129385" y="-2859527"/>
            <a:chExt cx="3911463" cy="3911463"/>
          </a:xfrm>
        </p:grpSpPr>
        <p:sp>
          <p:nvSpPr>
            <p:cNvPr id="356" name="曲线"/>
            <p:cNvSpPr>
              <a:spLocks/>
            </p:cNvSpPr>
            <p:nvPr/>
          </p:nvSpPr>
          <p:spPr>
            <a:xfrm rot="0">
              <a:off x="2129385" y="-2859527"/>
              <a:ext cx="3911463" cy="391146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357" name="Rectangles"/>
            <p:cNvSpPr>
              <a:spLocks/>
            </p:cNvSpPr>
            <p:nvPr/>
          </p:nvSpPr>
          <p:spPr>
            <a:xfrm rot="0">
              <a:off x="2496084" y="-2676177"/>
              <a:ext cx="3178063" cy="336141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359" name="Rectangles"/>
          <p:cNvSpPr>
            <a:spLocks/>
          </p:cNvSpPr>
          <p:nvPr/>
        </p:nvSpPr>
        <p:spPr>
          <a:xfrm rot="0">
            <a:off x="5968863" y="1230454"/>
            <a:ext cx="6350274" cy="16000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12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0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SUMMARY</a:t>
            </a:r>
            <a:endParaRPr lang="zh-CN" altLang="en-US" sz="9000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  <p:sp>
        <p:nvSpPr>
          <p:cNvPr id="360" name="Rectangles"/>
          <p:cNvSpPr>
            <a:spLocks/>
          </p:cNvSpPr>
          <p:nvPr/>
        </p:nvSpPr>
        <p:spPr>
          <a:xfrm rot="0">
            <a:off x="5410200" y="3364059"/>
            <a:ext cx="10173555" cy="54588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ts val="56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999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Adaptive control enables:</a:t>
            </a:r>
            <a:endParaRPr lang="en-US" altLang="zh-CN" sz="2999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604393" indent="-302260" algn="just">
              <a:lnSpc>
                <a:spcPts val="501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Robustness to uncertain dynamics</a:t>
            </a:r>
            <a:endParaRPr lang="en-US" altLang="zh-CN" sz="27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4393" indent="-302260" algn="just">
              <a:lnSpc>
                <a:spcPts val="5011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Online real-time learning</a:t>
            </a:r>
            <a:endParaRPr lang="en-US" altLang="zh-CN" sz="27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4393" indent="-302260" algn="just">
              <a:lnSpc>
                <a:spcPts val="4955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High performance in complex environments</a:t>
            </a:r>
            <a:endParaRPr lang="en-US" altLang="zh-CN" sz="27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marL="0" indent="0" algn="just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999" b="1" i="0" u="none" strike="noStrike" kern="1200" cap="none" spc="0" baseline="0">
                <a:solidFill>
                  <a:srgbClr val="000000"/>
                </a:solidFill>
                <a:latin typeface="Nunito Bold" pitchFamily="0" charset="0"/>
                <a:ea typeface="Nunito Bold" pitchFamily="0" charset="0"/>
                <a:cs typeface="Nunito Bold" pitchFamily="0" charset="0"/>
                <a:sym typeface="Nunito Bold" pitchFamily="0" charset="0"/>
              </a:rPr>
              <a:t>Machine learning extends adaptive control by offering:</a:t>
            </a:r>
            <a:endParaRPr lang="en-US" altLang="zh-CN" sz="2999" b="1" i="0" u="none" strike="noStrike" kern="1200" cap="none" spc="0" baseline="0">
              <a:solidFill>
                <a:srgbClr val="000000"/>
              </a:solidFill>
              <a:latin typeface="Nunito Bold" pitchFamily="0" charset="0"/>
              <a:ea typeface="Nunito Bold" pitchFamily="0" charset="0"/>
              <a:cs typeface="Nunito Bold" pitchFamily="0" charset="0"/>
              <a:sym typeface="Nunito Bold" pitchFamily="0" charset="0"/>
            </a:endParaRPr>
          </a:p>
          <a:p>
            <a:pPr lvl="1" marL="604393" indent="-302260" algn="just">
              <a:lnSpc>
                <a:spcPts val="4787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Flexible approximators</a:t>
            </a:r>
            <a:endParaRPr lang="en-US" altLang="zh-CN" sz="27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4393" indent="-302260" algn="just">
              <a:lnSpc>
                <a:spcPts val="4787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Improved generalization</a:t>
            </a:r>
            <a:endParaRPr lang="en-US" altLang="zh-CN" sz="27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lvl="1" marL="604393" indent="-302260" algn="just">
              <a:lnSpc>
                <a:spcPts val="4787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0" baseline="0">
                <a:solidFill>
                  <a:srgbClr val="000000"/>
                </a:solidFill>
                <a:latin typeface="Nunito" pitchFamily="0" charset="0"/>
                <a:ea typeface="Nunito" pitchFamily="0" charset="0"/>
                <a:cs typeface="Nunito" pitchFamily="0" charset="0"/>
                <a:sym typeface="Nunito" pitchFamily="0" charset="0"/>
              </a:rPr>
              <a:t>Optimal long-term decision-making</a:t>
            </a:r>
            <a:endParaRPr lang="en-US" altLang="zh-CN" sz="27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  <a:p>
            <a:pPr marL="0" indent="0" algn="just">
              <a:lnSpc>
                <a:spcPts val="4787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799" b="0" i="0" u="none" strike="noStrike" kern="1200" cap="none" spc="0" baseline="0">
              <a:solidFill>
                <a:srgbClr val="000000"/>
              </a:solidFill>
              <a:latin typeface="Nunito" pitchFamily="0" charset="0"/>
              <a:ea typeface="Nunito" pitchFamily="0" charset="0"/>
              <a:cs typeface="Nunito" pitchFamily="0" charset="0"/>
              <a:sym typeface="Nunito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043022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曲线"/>
          <p:cNvSpPr>
            <a:spLocks/>
          </p:cNvSpPr>
          <p:nvPr/>
        </p:nvSpPr>
        <p:spPr>
          <a:xfrm rot="0">
            <a:off x="-2057400" y="-1258963"/>
            <a:ext cx="4114800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362" name="曲线"/>
          <p:cNvSpPr>
            <a:spLocks/>
          </p:cNvSpPr>
          <p:nvPr/>
        </p:nvSpPr>
        <p:spPr>
          <a:xfrm rot="0">
            <a:off x="-1702233" y="-903795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363" name="曲线"/>
          <p:cNvSpPr>
            <a:spLocks/>
          </p:cNvSpPr>
          <p:nvPr/>
        </p:nvSpPr>
        <p:spPr>
          <a:xfrm rot="0">
            <a:off x="16230600" y="7200900"/>
            <a:ext cx="4114798" cy="41148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364" name="曲线"/>
          <p:cNvSpPr>
            <a:spLocks/>
          </p:cNvSpPr>
          <p:nvPr/>
        </p:nvSpPr>
        <p:spPr>
          <a:xfrm rot="0">
            <a:off x="16585766" y="7556066"/>
            <a:ext cx="3404467" cy="340446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367" name="Combination"/>
          <p:cNvGrpSpPr>
            <a:grpSpLocks/>
          </p:cNvGrpSpPr>
          <p:nvPr/>
        </p:nvGrpSpPr>
        <p:grpSpPr>
          <a:xfrm>
            <a:off x="12319137" y="9258300"/>
            <a:ext cx="3911463" cy="3911462"/>
            <a:chOff x="12319137" y="9258300"/>
            <a:chExt cx="3911463" cy="3911462"/>
          </a:xfrm>
        </p:grpSpPr>
        <p:sp>
          <p:nvSpPr>
            <p:cNvPr id="365" name="曲线"/>
            <p:cNvSpPr>
              <a:spLocks/>
            </p:cNvSpPr>
            <p:nvPr/>
          </p:nvSpPr>
          <p:spPr>
            <a:xfrm rot="0">
              <a:off x="12319137" y="9258300"/>
              <a:ext cx="3911463" cy="391146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366" name="Rectangles"/>
            <p:cNvSpPr>
              <a:spLocks/>
            </p:cNvSpPr>
            <p:nvPr/>
          </p:nvSpPr>
          <p:spPr>
            <a:xfrm rot="0">
              <a:off x="12685838" y="9441650"/>
              <a:ext cx="3178063" cy="336141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368" name="曲线"/>
          <p:cNvSpPr>
            <a:spLocks/>
          </p:cNvSpPr>
          <p:nvPr/>
        </p:nvSpPr>
        <p:spPr>
          <a:xfrm rot="0">
            <a:off x="16998732" y="7969033"/>
            <a:ext cx="2578532" cy="2578532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369" name="曲线"/>
          <p:cNvSpPr>
            <a:spLocks/>
          </p:cNvSpPr>
          <p:nvPr/>
        </p:nvSpPr>
        <p:spPr>
          <a:xfrm rot="0">
            <a:off x="-1289267" y="-490829"/>
            <a:ext cx="2578533" cy="257853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372" name="Combination"/>
          <p:cNvGrpSpPr>
            <a:grpSpLocks/>
          </p:cNvGrpSpPr>
          <p:nvPr/>
        </p:nvGrpSpPr>
        <p:grpSpPr>
          <a:xfrm>
            <a:off x="2129385" y="-2859527"/>
            <a:ext cx="3911463" cy="3911463"/>
            <a:chOff x="2129385" y="-2859527"/>
            <a:chExt cx="3911463" cy="3911463"/>
          </a:xfrm>
        </p:grpSpPr>
        <p:sp>
          <p:nvSpPr>
            <p:cNvPr id="370" name="曲线"/>
            <p:cNvSpPr>
              <a:spLocks/>
            </p:cNvSpPr>
            <p:nvPr/>
          </p:nvSpPr>
          <p:spPr>
            <a:xfrm rot="0">
              <a:off x="2129385" y="-2859527"/>
              <a:ext cx="3911463" cy="391146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799" y="0"/>
                  </a:cubicBezTo>
                  <a:close/>
                </a:path>
              </a:pathLst>
            </a:custGeom>
            <a:solidFill>
              <a:srgbClr val="474646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371" name="Rectangles"/>
            <p:cNvSpPr>
              <a:spLocks/>
            </p:cNvSpPr>
            <p:nvPr/>
          </p:nvSpPr>
          <p:spPr>
            <a:xfrm rot="0">
              <a:off x="2496084" y="-2676177"/>
              <a:ext cx="3178063" cy="336141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373" name="Rectangles"/>
          <p:cNvSpPr>
            <a:spLocks/>
          </p:cNvSpPr>
          <p:nvPr/>
        </p:nvSpPr>
        <p:spPr>
          <a:xfrm rot="0">
            <a:off x="4013131" y="3908424"/>
            <a:ext cx="10261737" cy="23112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18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999" b="1" i="0" u="none" strike="noStrike" kern="1200" cap="none" spc="0" baseline="0">
                <a:solidFill>
                  <a:srgbClr val="000000"/>
                </a:solidFill>
                <a:latin typeface="Proxima Nova Bold" pitchFamily="0" charset="0"/>
                <a:ea typeface="Proxima Nova Bold" pitchFamily="0" charset="0"/>
                <a:cs typeface="Proxima Nova Bold" pitchFamily="0" charset="0"/>
                <a:sym typeface="Proxima Nova Bold" pitchFamily="0" charset="0"/>
              </a:rPr>
              <a:t>THANK YOU</a:t>
            </a:r>
            <a:endParaRPr lang="zh-CN" altLang="en-US" sz="12999" b="1" i="0" u="none" strike="noStrike" kern="1200" cap="none" spc="0" baseline="0">
              <a:solidFill>
                <a:srgbClr val="000000"/>
              </a:solidFill>
              <a:latin typeface="Proxima Nova Bold" pitchFamily="0" charset="0"/>
              <a:ea typeface="Proxima Nova Bold" pitchFamily="0" charset="0"/>
              <a:cs typeface="Proxima Nova Bold" pitchFamily="0" charset="0"/>
              <a:sym typeface="Proxima Nova Bol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014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4</TotalTime>
  <Application>Honor_Office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Grey Black Minimalist Simple Project Presentation</dc:title>
  <cp:lastModifiedBy>HONOR Docs</cp:lastModifiedBy>
  <cp:revision>1</cp:revision>
  <dcterms:created xsi:type="dcterms:W3CDTF">2006-08-16T00:00:00Z</dcterms:created>
  <dcterms:modified xsi:type="dcterms:W3CDTF">2025-11-28T13:54:34Z</dcterms:modified>
</cp:coreProperties>
</file>